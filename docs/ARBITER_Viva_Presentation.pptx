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672e3f8-2d45-3144-3047-abe25eb05c9b}">
          <p14:sldIdLst>
            <p14:sldId id="256"/>
          </p14:sldIdLst>
        </p14:section>
        <p14:section name="1. The system" id="{a4169dab-ff8b-e6a7-1b1c-48339f285e27}">
          <p14:sldIdLst>
            <p14:sldId id="257"/>
            <p14:sldId id="258"/>
            <p14:sldId id="259"/>
            <p14:sldId id="260"/>
            <p14:sldId id="261"/>
            <p14:sldId id="262"/>
          </p14:sldIdLst>
        </p14:section>
        <p14:section name="2. The agents" id="{075d463d-554a-90d9-54cb-9fb94a97bd18}">
          <p14:sldIdLst>
            <p14:sldId id="263"/>
            <p14:sldId id="264"/>
            <p14:sldId id="265"/>
            <p14:sldId id="266"/>
            <p14:sldId id="267"/>
            <p14:sldId id="268"/>
          </p14:sldIdLst>
        </p14:section>
        <p14:section name="3. The experiment" id="{98e40ed8-5887-20c7-e729-89337d186ba1}">
          <p14:sldIdLst>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6E9EF"/>
                </a:solidFill>
                <a:latin typeface="+mn-lt"/>
              </a:defRPr>
            </a:pPr>
            <a:r>
              <a:rPr sz="1300" b="0" i="0" u="none" strike="noStrike">
                <a:solidFill>
                  <a:srgbClr val="E6E9EF"/>
                </a:solidFill>
                <a:latin typeface="+mn-lt"/>
              </a:rPr>
              <a:t>Mean tokens per task</a:t>
            </a:r>
          </a:p>
        </c:rich>
      </c:tx>
      <c:layout/>
      <c:overlay val="0"/>
    </c:title>
    <c:autoTitleDeleted val="0"/>
    <c:plotArea>
      <c:layout/>
      <c:barChart>
        <c:barDir val="col"/>
        <c:grouping val="clustered"/>
        <c:varyColors val="0"/>
        <c:ser>
          <c:idx val="0"/>
          <c:order val="0"/>
          <c:tx>
            <c:strRef>
              <c:f>Sheet1!$B$1</c:f>
              <c:strCache>
                <c:ptCount val="1"/>
                <c:pt idx="0">
                  <c:v>Mean tokens per task</c:v>
                </c:pt>
              </c:strCache>
            </c:strRef>
          </c:tx>
          <c:spPr>
            <a:solidFill>
              <a:srgbClr val="8B93A7"/>
            </a:solidFill>
            <a:effectLst/>
          </c:spPr>
          <c:invertIfNegative val="0"/>
          <c:dLbls>
            <c:numFmt formatCode="#,##0" sourceLinked="0"/>
            <c:txPr>
              <a:bodyPr/>
              <a:lstStyle/>
              <a:p>
                <a:pPr>
                  <a:defRPr b="0" i="0" strike="noStrike" sz="1100" u="none">
                    <a:solidFill>
                      <a:srgbClr val="E6E9EF"/>
                    </a:solidFill>
                    <a:latin typeface="+mn-lt"/>
                  </a:defRPr>
                </a:pPr>
              </a:p>
            </c:txPr>
            <c:showLegendKey val="0"/>
            <c:showVal val="1"/>
            <c:showCatName val="0"/>
            <c:showSerName val="0"/>
            <c:showPercent val="0"/>
            <c:showBubbleSize val="0"/>
            <c:showLeaderLines val="0"/>
          </c:dLbls>
          <c:dPt>
            <c:idx val="0"/>
            <c:invertIfNegative val="0"/>
            <c:bubble3D val="0"/>
            <c:spPr>
              <a:solidFill>
                <a:srgbClr val="8B93A7"/>
              </a:solidFill>
              <a:effectLst/>
            </c:spPr>
          </c:dPt>
          <c:dPt>
            <c:idx val="1"/>
            <c:invertIfNegative val="0"/>
            <c:bubble3D val="0"/>
            <c:spPr>
              <a:solidFill>
                <a:srgbClr val="3DDC97"/>
              </a:solidFill>
              <a:effectLst/>
            </c:spPr>
          </c:dPt>
          <c:dPt>
            <c:idx val="2"/>
            <c:invertIfNegative val="0"/>
            <c:bubble3D val="0"/>
            <c:spPr>
              <a:solidFill>
                <a:srgbClr val="8B93A7"/>
              </a:solidFill>
              <a:effectLst/>
            </c:spPr>
          </c:dPt>
          <c:dPt>
            <c:idx val="3"/>
            <c:invertIfNegative val="0"/>
            <c:bubble3D val="0"/>
            <c:spPr>
              <a:solidFill>
                <a:srgbClr val="8B93A7"/>
              </a:solidFill>
              <a:effectLst/>
            </c:spPr>
          </c:dPt>
          <c:dPt>
            <c:idx val="4"/>
            <c:invertIfNegative val="0"/>
            <c:bubble3D val="0"/>
            <c:spPr>
              <a:solidFill>
                <a:srgbClr val="5B9DFF"/>
              </a:solidFill>
              <a:effectLst/>
            </c:spPr>
          </c:dPt>
          <c:cat>
            <c:multiLvlStrRef>
              <c:f>Sheet1!$A$2:$A$6</c:f>
              <c:multiLvlStrCache>
                <c:ptCount val="5"/>
                <c:lvl>
                  <c:pt idx="0">
                    <c:v>A</c:v>
                  </c:pt>
                  <c:pt idx="1">
                    <c:v>A+</c:v>
                  </c:pt>
                  <c:pt idx="2">
                    <c:v>B</c:v>
                  </c:pt>
                  <c:pt idx="3">
                    <c:v>C</c:v>
                  </c:pt>
                  <c:pt idx="4">
                    <c:v>D</c:v>
                  </c:pt>
                </c:lvl>
              </c:multiLvlStrCache>
            </c:multiLvlStrRef>
          </c:cat>
          <c:val>
            <c:numRef>
              <c:f>Sheet1!$B$2:$B$6</c:f>
              <c:numCache>
                <c:formatCode>General</c:formatCode>
                <c:ptCount val="5"/>
                <c:pt idx="0">
                  <c:v>240</c:v>
                </c:pt>
                <c:pt idx="1">
                  <c:v>891</c:v>
                </c:pt>
                <c:pt idx="2">
                  <c:v>240</c:v>
                </c:pt>
                <c:pt idx="3">
                  <c:v>240</c:v>
                </c:pt>
                <c:pt idx="4">
                  <c:v>725</c:v>
                </c:pt>
              </c:numCache>
            </c:numRef>
          </c:val>
        </c:ser>
        <c:dLbls>
          <c:numFmt formatCode="#,##0" sourceLinked="0"/>
          <c:txPr>
            <a:bodyPr/>
            <a:lstStyle/>
            <a:p>
              <a:pPr>
                <a:defRPr b="0" i="0" strike="noStrike" sz="1100" u="none">
                  <a:solidFill>
                    <a:srgbClr val="E6E9E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93A7"/>
                </a:solidFill>
                <a:latin typeface="+mn-lt"/>
              </a:defRPr>
            </a:pPr>
            <a:endParaRPr lang="en-US"/>
          </a:p>
        </c:txPr>
        <c:crossAx val="2094734552"/>
        <c:crosses val="autoZero"/>
        <c:auto val="1"/>
        <c:lblAlgn val="ctr"/>
        <c:noMultiLvlLbl val="1"/>
      </c:catAx>
      <c:valAx>
        <c:axId val="2094734552"/>
        <c:scaling>
          <c:orientation val="minMax"/>
          <c:max val="1000"/>
        </c:scaling>
        <c:delete val="0"/>
        <c:axPos val="l"/>
        <c:majorGridlines>
          <c:spPr>
            <a:ln w="12700" cap="flat">
              <a:solidFill>
                <a:srgbClr val="2A2F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3A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an agent writes a solution, tools test it by actually running it, another agent rewrites it from the failures, repeating under a hard budget. We are measuring whether that still beats a single agent once both get the same token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own the orchestration loop, the decision policy, the budget governor, the provider layer, the sandbox, the web interface and the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fix is to ask the model to review itself. That is exactly what the literature says does not work. Our whole design follows from that: the code validator contains no LLM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agent framework. We kept the orchestration explicit because the orchestration is what the project studies — hiding it inside LangGraph or AutoGen would hide the contribution. AutoGen is also in maintenance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rows 3 and 4 during the demo. 0.75 means three of four tests passed — graded, not pass/fail, because the loop needs to tell 'nearly right' from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stops it looping: seven separate limits, and we can demonstrate it by asking for something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link ten minutes early so the first request wakes the server. Use condition C. If a run stalls, say the system stopped itself on a documented limit, then press Offline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own the role library, the prompts, the structured output schemas, the test designer and the LLM critic.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process, not a thread. Three words: prompt, one call, typed 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'why not let it create agents on the fly'. Answer: we could not measure it, so it would stop being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demo non-circular: the panel can type anything and the system still has something objective to check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twenty seconds of the demo. It reproduces Huang et al.'s finding on our own system: the model's opinion was wrong and the execution was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an LLM writing the tests is circular: yes, which is why those tests never touch the benchmark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own the benchmark format and datasets, the execution validators, the resumable runner, the metrics module and failure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this answer. Claiming a novel architecture would be destroyed in thirty seconds because the survey exists. Claiming the measurement is true and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 multi-agent projects skip A+ and report a meaningless win. Including it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Contamination in HumanEval and GSM8K is a known risk; EvalPlus's extra tests reduce but do not remove it, and we declare it in threats to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over-claim here. Saying the results show our system is better would be false and is the fastest way to lose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much is done: the system is essentially complete with 49 offline tests; what remains is measurement. Phase 1 was always the system, Phase 3 is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1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57400"/>
            <a:ext cx="10881360" cy="1005840"/>
          </a:xfrm>
          <a:prstGeom prst="rect">
            <a:avLst/>
          </a:prstGeom>
          <a:noFill/>
          <a:ln/>
        </p:spPr>
        <p:txBody>
          <a:bodyPr wrap="square" rtlCol="0"/>
          <a:lstStyle>
            <a:lvl1pPr algn="l" indent="0" marL="0">
              <a:buNone/>
              <a:defRPr lang="en-US" sz="5400" b="1" dirty="0">
                <a:solidFill>
                  <a:srgbClr val="FFFFFF"/>
                </a:solidFill>
              </a:defRPr>
            </a:lvl1pPr>
          </a:lstStyle>
          <a:p>
            <a:pPr algn="l" indent="0" marL="0">
              <a:buNone/>
            </a:pPr>
            <a:endParaRPr lang="en-US" sz="5400" dirty="0"/>
          </a:p>
        </p:txBody>
      </p:sp>
      <p:sp>
        <p:nvSpPr>
          <p:cNvPr id="3" name="Text 0"/>
          <p:cNvSpPr/>
          <p:nvPr>
            <p:ph idx="101" type="body" hasCustomPrompt="1"/>
          </p:nvPr>
        </p:nvSpPr>
        <p:spPr>
          <a:xfrm>
            <a:off x="640080" y="3154680"/>
            <a:ext cx="8595360" cy="2377440"/>
          </a:xfrm>
          <a:prstGeom prst="rect">
            <a:avLst/>
          </a:prstGeom>
          <a:noFill/>
          <a:ln/>
        </p:spPr>
        <p:txBody>
          <a:bodyPr wrap="square" rtlCol="0"/>
          <a:lstStyle>
            <a:lvl1pPr algn="l" indent="0" marL="0">
              <a:buNone/>
              <a:defRPr lang="en-US" sz="1500" dirty="0">
                <a:solidFill>
                  <a:srgbClr val="8B93A7"/>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D21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881360" cy="9144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640080" y="3703320"/>
            <a:ext cx="8229600" cy="1280160"/>
          </a:xfrm>
          <a:prstGeom prst="rect">
            <a:avLst/>
          </a:prstGeom>
          <a:noFill/>
          <a:ln/>
        </p:spPr>
        <p:txBody>
          <a:bodyPr wrap="square" rtlCol="0"/>
          <a:lstStyle>
            <a:lvl1pPr algn="l" indent="0" marL="0">
              <a:buNone/>
              <a:defRPr lang="en-US" sz="1600" dirty="0">
                <a:solidFill>
                  <a:srgbClr val="8B93A7"/>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1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75488"/>
            <a:ext cx="10881360" cy="73152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3" name="Text 0"/>
          <p:cNvSpPr txBox="1"/>
          <p:nvPr/>
        </p:nvSpPr>
        <p:spPr>
          <a:xfrm>
            <a:off x="640080" y="6382512"/>
            <a:ext cx="1828800" cy="274320"/>
          </a:xfrm>
          <a:prstGeom prst="rect">
            <a:avLst/>
          </a:prstGeom>
          <a:noFill/>
          <a:ln/>
        </p:spPr>
        <p:txBody>
          <a:bodyPr wrap="square" lIns="0" tIns="0" rIns="0" bIns="0" rtlCol="0" anchor="ctr"/>
          <a:lstStyle/>
          <a:p>
            <a:pPr algn="l" indent="0" marL="0">
              <a:buNone/>
            </a:pPr>
            <a:r>
              <a:rPr lang="en-US" sz="1000" dirty="0">
                <a:solidFill>
                  <a:srgbClr val="2A2F3A"/>
                </a:solidFill>
              </a:rPr>
              <a:t>ARBITER</a:t>
            </a:r>
            <a:endParaRPr lang="en-US" sz="1000" dirty="0"/>
          </a:p>
        </p:txBody>
      </p:sp>
      <p:sp>
        <p:nvSpPr>
          <p:cNvPr id="4" name="Text 1"/>
          <p:cNvSpPr/>
          <p:nvPr>
            <p:ph idx="102" type="body" hasCustomPrompt="1"/>
          </p:nvPr>
        </p:nvSpPr>
        <p:spPr>
          <a:xfrm>
            <a:off x="7680960" y="6382512"/>
            <a:ext cx="3840480" cy="274320"/>
          </a:xfrm>
          <a:prstGeom prst="rect">
            <a:avLst/>
          </a:prstGeom>
          <a:noFill/>
          <a:ln/>
        </p:spPr>
        <p:txBody>
          <a:bodyPr wrap="square" rtlCol="0"/>
          <a:lstStyle>
            <a:lvl1pPr algn="r" indent="0" marL="0">
              <a:buNone/>
              <a:defRPr lang="en-US" sz="1000" dirty="0">
                <a:solidFill>
                  <a:srgbClr val="2A2F3A"/>
                </a:solidFill>
              </a:defRPr>
            </a:lvl1pPr>
          </a:lstStyle>
          <a:p>
            <a:pPr algn="r" indent="0" marL="0">
              <a:buNone/>
            </a:pPr>
            <a:endParaRPr lang="en-US" sz="1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BODY">
    <p:bg>
      <p:bgPr>
        <a:solidFill>
          <a:srgbClr val="0F11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75488"/>
            <a:ext cx="10881360" cy="73152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3" name="Text 0"/>
          <p:cNvSpPr txBox="1"/>
          <p:nvPr/>
        </p:nvSpPr>
        <p:spPr>
          <a:xfrm>
            <a:off x="640080" y="6382512"/>
            <a:ext cx="1828800" cy="274320"/>
          </a:xfrm>
          <a:prstGeom prst="rect">
            <a:avLst/>
          </a:prstGeom>
          <a:noFill/>
          <a:ln/>
        </p:spPr>
        <p:txBody>
          <a:bodyPr wrap="square" lIns="0" tIns="0" rIns="0" bIns="0" rtlCol="0" anchor="ctr"/>
          <a:lstStyle/>
          <a:p>
            <a:pPr algn="l" indent="0" marL="0">
              <a:buNone/>
            </a:pPr>
            <a:r>
              <a:rPr lang="en-US" sz="1000" dirty="0">
                <a:solidFill>
                  <a:srgbClr val="2A2F3A"/>
                </a:solidFill>
              </a:rPr>
              <a:t>ARBITER</a:t>
            </a:r>
            <a:endParaRPr lang="en-US" sz="1000" dirty="0"/>
          </a:p>
        </p:txBody>
      </p:sp>
      <p:sp>
        <p:nvSpPr>
          <p:cNvPr id="4" name="Text 1"/>
          <p:cNvSpPr/>
          <p:nvPr>
            <p:ph idx="102" type="body" hasCustomPrompt="1"/>
          </p:nvPr>
        </p:nvSpPr>
        <p:spPr>
          <a:xfrm>
            <a:off x="7680960" y="6382512"/>
            <a:ext cx="3840480" cy="274320"/>
          </a:xfrm>
          <a:prstGeom prst="rect">
            <a:avLst/>
          </a:prstGeom>
          <a:noFill/>
          <a:ln/>
        </p:spPr>
        <p:txBody>
          <a:bodyPr wrap="square" rtlCol="0"/>
          <a:lstStyle>
            <a:lvl1pPr algn="r" indent="0" marL="0">
              <a:buNone/>
              <a:defRPr lang="en-US" sz="1000" dirty="0">
                <a:solidFill>
                  <a:srgbClr val="2A2F3A"/>
                </a:solidFill>
              </a:defRPr>
            </a:lvl1pPr>
          </a:lstStyle>
          <a:p>
            <a:pPr algn="r" indent="0" marL="0">
              <a:buNone/>
            </a:pPr>
            <a:endParaRPr lang="en-US" sz="1000" dirty="0"/>
          </a:p>
        </p:txBody>
      </p:sp>
      <p:sp>
        <p:nvSpPr>
          <p:cNvPr id="5" name="Text 1"/>
          <p:cNvSpPr/>
          <p:nvPr>
            <p:ph idx="103" type="body" hasCustomPrompt="1"/>
          </p:nvPr>
        </p:nvSpPr>
        <p:spPr>
          <a:xfrm>
            <a:off x="640080" y="1371600"/>
            <a:ext cx="10881360" cy="4480560"/>
          </a:xfrm>
          <a:prstGeom prst="rect">
            <a:avLst/>
          </a:prstGeom>
          <a:noFill/>
          <a:ln/>
        </p:spPr>
        <p:txBody>
          <a:bodyPr wrap="square" rtlCol="0"/>
          <a:lstStyle>
            <a:lvl1pPr algn="l" indent="0" marL="0">
              <a:buNone/>
              <a:defRPr lang="en-US" sz="1600" dirty="0">
                <a:solidFill>
                  <a:srgbClr val="E6E9EF"/>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rk"/>
          <p:cNvSpPr/>
          <p:nvPr/>
        </p:nvSpPr>
        <p:spPr>
          <a:xfrm>
            <a:off x="640080" y="1143000"/>
            <a:ext cx="566928" cy="566928"/>
          </a:xfrm>
          <a:prstGeom prst="ellipse">
            <a:avLst/>
          </a:prstGeom>
          <a:solidFill>
            <a:srgbClr val="0F1115"/>
          </a:solidFill>
          <a:ln w="38100">
            <a:solidFill>
              <a:srgbClr val="3DDC97"/>
            </a:solidFill>
            <a:prstDash val="solid"/>
          </a:ln>
        </p:spPr>
      </p:sp>
      <p:sp>
        <p:nvSpPr>
          <p:cNvPr id="3" name="mark-head"/>
          <p:cNvSpPr/>
          <p:nvPr/>
        </p:nvSpPr>
        <p:spPr>
          <a:xfrm rot="2400000">
            <a:off x="1024128" y="1042416"/>
            <a:ext cx="256032" cy="256032"/>
          </a:xfrm>
          <a:prstGeom prst="triangle">
            <a:avLst/>
          </a:prstGeom>
          <a:solidFill>
            <a:srgbClr val="3DDC97"/>
          </a:solidFill>
          <a:ln w="12700">
            <a:solidFill>
              <a:srgbClr val="3DDC97"/>
            </a:solidFill>
            <a:prstDash val="solid"/>
          </a:ln>
        </p:spPr>
      </p:sp>
      <p:sp>
        <p:nvSpPr>
          <p:cNvPr id="4" name="Text 0"/>
          <p:cNvSpPr/>
          <p:nvPr>
            <p:ph idx="100" type="title" hasCustomPrompt="1"/>
          </p:nvPr>
        </p:nvSpPr>
        <p:spPr>
          <a:xfrm>
            <a:off x="640080" y="2057400"/>
            <a:ext cx="10881360" cy="1005840"/>
          </a:xfrm>
          <a:prstGeom prst="rect">
            <a:avLst/>
          </a:prstGeom>
          <a:noFill/>
          <a:ln/>
        </p:spPr>
        <p:txBody>
          <a:bodyPr wrap="square" rtlCol="0"/>
          <a:lstStyle/>
          <a:p>
            <a:pPr algn="l" indent="0" marL="0">
              <a:buNone/>
            </a:pPr>
            <a:r>
              <a:rPr lang="en-US" sz="5400" b="1" dirty="0">
                <a:solidFill>
                  <a:srgbClr val="FFFFFF"/>
                </a:solidFill>
              </a:rPr>
              <a:t>ARBITER</a:t>
            </a:r>
            <a:endParaRPr lang="en-US" sz="5400" dirty="0"/>
          </a:p>
        </p:txBody>
      </p:sp>
      <p:sp>
        <p:nvSpPr>
          <p:cNvPr id="5" name="Text 0"/>
          <p:cNvSpPr/>
          <p:nvPr>
            <p:ph idx="101" type="body" hasCustomPrompt="1"/>
          </p:nvPr>
        </p:nvSpPr>
        <p:spPr>
          <a:xfrm>
            <a:off x="640080" y="3154680"/>
            <a:ext cx="8595360" cy="2377440"/>
          </a:xfrm>
          <a:prstGeom prst="rect">
            <a:avLst/>
          </a:prstGeom>
          <a:noFill/>
          <a:ln/>
        </p:spPr>
        <p:txBody>
          <a:bodyPr wrap="square" rtlCol="0"/>
          <a:lstStyle/>
          <a:p>
            <a:pPr algn="l" indent="0" marL="0">
              <a:buNone/>
            </a:pPr>
            <a:r>
              <a:rPr lang="en-US" sz="1700" dirty="0">
                <a:solidFill>
                  <a:srgbClr val="E6E9EF"/>
                </a:solidFill>
              </a:rPr>
              <a:t>Adaptive Multi-Agent System for Iterative Task Generation, Validation and Refinement</a:t>
            </a:r>
            <a:endParaRPr lang="en-US" sz="1500" dirty="0"/>
          </a:p>
          <a:p>
            <a:pPr algn="l" indent="0" marL="0">
              <a:buNone/>
            </a:pPr>
            <a:r>
              <a:rPr lang="en-US" sz="1400" i="1" dirty="0">
                <a:solidFill>
                  <a:srgbClr val="3DDC97"/>
                </a:solidFill>
              </a:rPr>
              <a:t>Does multi-agent refinement still win when the single agent gets the same token budget?</a:t>
            </a:r>
            <a:endParaRPr lang="en-US" sz="1500" dirty="0"/>
          </a:p>
        </p:txBody>
      </p:sp>
      <p:sp>
        <p:nvSpPr>
          <p:cNvPr id="6" name="Text 4"/>
          <p:cNvSpPr txBox="1"/>
          <p:nvPr/>
        </p:nvSpPr>
        <p:spPr>
          <a:xfrm>
            <a:off x="640080" y="4800600"/>
            <a:ext cx="2651760" cy="274320"/>
          </a:xfrm>
          <a:prstGeom prst="rect">
            <a:avLst/>
          </a:prstGeom>
          <a:noFill/>
          <a:ln/>
        </p:spPr>
        <p:txBody>
          <a:bodyPr wrap="square" lIns="0" tIns="0" rIns="0" bIns="0" rtlCol="0" anchor="ctr"/>
          <a:lstStyle/>
          <a:p>
            <a:pPr indent="0" marL="0">
              <a:buNone/>
            </a:pPr>
            <a:r>
              <a:rPr lang="en-US" sz="1400" b="1" dirty="0">
                <a:solidFill>
                  <a:srgbClr val="FFFFFF"/>
                </a:solidFill>
              </a:rPr>
              <a:t>Gautam Lasgotra</a:t>
            </a:r>
            <a:endParaRPr lang="en-US" sz="1400" dirty="0"/>
          </a:p>
        </p:txBody>
      </p:sp>
      <p:sp>
        <p:nvSpPr>
          <p:cNvPr id="7" name="Text 5"/>
          <p:cNvSpPr txBox="1"/>
          <p:nvPr/>
        </p:nvSpPr>
        <p:spPr>
          <a:xfrm>
            <a:off x="640080" y="5084064"/>
            <a:ext cx="2651760" cy="274320"/>
          </a:xfrm>
          <a:prstGeom prst="rect">
            <a:avLst/>
          </a:prstGeom>
          <a:noFill/>
          <a:ln/>
        </p:spPr>
        <p:txBody>
          <a:bodyPr wrap="square" lIns="0" tIns="0" rIns="0" bIns="0" rtlCol="0" anchor="ctr"/>
          <a:lstStyle/>
          <a:p>
            <a:pPr indent="0" marL="0">
              <a:buNone/>
            </a:pPr>
            <a:r>
              <a:rPr lang="en-US" sz="1200" dirty="0">
                <a:solidFill>
                  <a:srgbClr val="8B93A7"/>
                </a:solidFill>
              </a:rPr>
              <a:t>23BCS032</a:t>
            </a:r>
            <a:endParaRPr lang="en-US" sz="1200" dirty="0"/>
          </a:p>
        </p:txBody>
      </p:sp>
      <p:sp>
        <p:nvSpPr>
          <p:cNvPr id="8" name="Text 6"/>
          <p:cNvSpPr txBox="1"/>
          <p:nvPr/>
        </p:nvSpPr>
        <p:spPr>
          <a:xfrm>
            <a:off x="3474720" y="4800600"/>
            <a:ext cx="2651760" cy="274320"/>
          </a:xfrm>
          <a:prstGeom prst="rect">
            <a:avLst/>
          </a:prstGeom>
          <a:noFill/>
          <a:ln/>
        </p:spPr>
        <p:txBody>
          <a:bodyPr wrap="square" lIns="0" tIns="0" rIns="0" bIns="0" rtlCol="0" anchor="ctr"/>
          <a:lstStyle/>
          <a:p>
            <a:pPr indent="0" marL="0">
              <a:buNone/>
            </a:pPr>
            <a:r>
              <a:rPr lang="en-US" sz="1400" b="1" dirty="0">
                <a:solidFill>
                  <a:srgbClr val="FFFFFF"/>
                </a:solidFill>
              </a:rPr>
              <a:t>Chirag Attri</a:t>
            </a:r>
            <a:endParaRPr lang="en-US" sz="1400" dirty="0"/>
          </a:p>
        </p:txBody>
      </p:sp>
      <p:sp>
        <p:nvSpPr>
          <p:cNvPr id="9" name="Text 7"/>
          <p:cNvSpPr txBox="1"/>
          <p:nvPr/>
        </p:nvSpPr>
        <p:spPr>
          <a:xfrm>
            <a:off x="3474720" y="5084064"/>
            <a:ext cx="2651760" cy="274320"/>
          </a:xfrm>
          <a:prstGeom prst="rect">
            <a:avLst/>
          </a:prstGeom>
          <a:noFill/>
          <a:ln/>
        </p:spPr>
        <p:txBody>
          <a:bodyPr wrap="square" lIns="0" tIns="0" rIns="0" bIns="0" rtlCol="0" anchor="ctr"/>
          <a:lstStyle/>
          <a:p>
            <a:pPr indent="0" marL="0">
              <a:buNone/>
            </a:pPr>
            <a:r>
              <a:rPr lang="en-US" sz="1200" dirty="0">
                <a:solidFill>
                  <a:srgbClr val="8B93A7"/>
                </a:solidFill>
              </a:rPr>
              <a:t>23BCS024</a:t>
            </a:r>
            <a:endParaRPr lang="en-US" sz="1200" dirty="0"/>
          </a:p>
        </p:txBody>
      </p:sp>
      <p:sp>
        <p:nvSpPr>
          <p:cNvPr id="10" name="Text 8"/>
          <p:cNvSpPr txBox="1"/>
          <p:nvPr/>
        </p:nvSpPr>
        <p:spPr>
          <a:xfrm>
            <a:off x="6309360" y="4800600"/>
            <a:ext cx="2651760" cy="274320"/>
          </a:xfrm>
          <a:prstGeom prst="rect">
            <a:avLst/>
          </a:prstGeom>
          <a:noFill/>
          <a:ln/>
        </p:spPr>
        <p:txBody>
          <a:bodyPr wrap="square" lIns="0" tIns="0" rIns="0" bIns="0" rtlCol="0" anchor="ctr"/>
          <a:lstStyle/>
          <a:p>
            <a:pPr indent="0" marL="0">
              <a:buNone/>
            </a:pPr>
            <a:r>
              <a:rPr lang="en-US" sz="1400" b="1" dirty="0">
                <a:solidFill>
                  <a:srgbClr val="FFFFFF"/>
                </a:solidFill>
              </a:rPr>
              <a:t>Aniket Kundal</a:t>
            </a:r>
            <a:endParaRPr lang="en-US" sz="1400" dirty="0"/>
          </a:p>
        </p:txBody>
      </p:sp>
      <p:sp>
        <p:nvSpPr>
          <p:cNvPr id="11" name="Text 9"/>
          <p:cNvSpPr txBox="1"/>
          <p:nvPr/>
        </p:nvSpPr>
        <p:spPr>
          <a:xfrm>
            <a:off x="6309360" y="5084064"/>
            <a:ext cx="2651760" cy="274320"/>
          </a:xfrm>
          <a:prstGeom prst="rect">
            <a:avLst/>
          </a:prstGeom>
          <a:noFill/>
          <a:ln/>
        </p:spPr>
        <p:txBody>
          <a:bodyPr wrap="square" lIns="0" tIns="0" rIns="0" bIns="0" rtlCol="0" anchor="ctr"/>
          <a:lstStyle/>
          <a:p>
            <a:pPr indent="0" marL="0">
              <a:buNone/>
            </a:pPr>
            <a:r>
              <a:rPr lang="en-US" sz="1200" dirty="0">
                <a:solidFill>
                  <a:srgbClr val="8B93A7"/>
                </a:solidFill>
              </a:rPr>
              <a:t>23BCS015</a:t>
            </a:r>
            <a:endParaRPr lang="en-US" sz="1200" dirty="0"/>
          </a:p>
        </p:txBody>
      </p:sp>
      <p:sp>
        <p:nvSpPr>
          <p:cNvPr id="12" name="Text 10"/>
          <p:cNvSpPr txBox="1"/>
          <p:nvPr/>
        </p:nvSpPr>
        <p:spPr>
          <a:xfrm>
            <a:off x="640080" y="5897880"/>
            <a:ext cx="10881360" cy="274320"/>
          </a:xfrm>
          <a:prstGeom prst="rect">
            <a:avLst/>
          </a:prstGeom>
          <a:noFill/>
          <a:ln/>
        </p:spPr>
        <p:txBody>
          <a:bodyPr wrap="square" lIns="0" tIns="0" rIns="0" bIns="0" rtlCol="0" anchor="ctr"/>
          <a:lstStyle/>
          <a:p>
            <a:pPr indent="0" marL="0">
              <a:buNone/>
            </a:pPr>
            <a:r>
              <a:rPr lang="en-US" sz="1200" dirty="0">
                <a:solidFill>
                  <a:srgbClr val="8B93A7"/>
                </a:solidFill>
              </a:rPr>
              <a:t>Guide: Dr. Sonika Gupta  ·  School of Computer Science &amp; Engineering, SMVDU Katra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adge-1"/>
          <p:cNvSpPr/>
          <p:nvPr/>
        </p:nvSpPr>
        <p:spPr>
          <a:xfrm>
            <a:off x="640080" y="2148840"/>
            <a:ext cx="475488" cy="475488"/>
          </a:xfrm>
          <a:prstGeom prst="ellipse">
            <a:avLst/>
          </a:prstGeom>
          <a:solidFill>
            <a:srgbClr val="3DDC97"/>
          </a:solidFill>
          <a:ln w="12700">
            <a:solidFill>
              <a:srgbClr val="3DDC97"/>
            </a:solidFill>
            <a:prstDash val="solid"/>
          </a:ln>
        </p:spPr>
      </p:sp>
      <p:sp>
        <p:nvSpPr>
          <p:cNvPr id="3" name="Text 1"/>
          <p:cNvSpPr txBox="1"/>
          <p:nvPr/>
        </p:nvSpPr>
        <p:spPr>
          <a:xfrm>
            <a:off x="640080" y="2148840"/>
            <a:ext cx="475488" cy="475488"/>
          </a:xfrm>
          <a:prstGeom prst="rect">
            <a:avLst/>
          </a:prstGeom>
          <a:noFill/>
          <a:ln/>
        </p:spPr>
        <p:txBody>
          <a:bodyPr wrap="square" lIns="0" tIns="0" rIns="0" bIns="0" rtlCol="0" anchor="ctr"/>
          <a:lstStyle/>
          <a:p>
            <a:pPr algn="ctr" indent="0" marL="0">
              <a:buNone/>
            </a:pPr>
            <a:r>
              <a:rPr lang="en-US" sz="1300" b="1" dirty="0">
                <a:solidFill>
                  <a:srgbClr val="0F1115"/>
                </a:solidFill>
              </a:rPr>
              <a:t>1</a:t>
            </a:r>
            <a:endParaRPr lang="en-US" sz="1300" dirty="0"/>
          </a:p>
        </p:txBody>
      </p:sp>
      <p:sp>
        <p:nvSpPr>
          <p:cNvPr id="4" name="Text 0"/>
          <p:cNvSpPr/>
          <p:nvPr>
            <p:ph idx="100" type="title" hasCustomPrompt="1"/>
          </p:nvPr>
        </p:nvSpPr>
        <p:spPr>
          <a:xfrm>
            <a:off x="640080" y="2743200"/>
            <a:ext cx="10881360" cy="914400"/>
          </a:xfrm>
          <a:prstGeom prst="rect">
            <a:avLst/>
          </a:prstGeom>
          <a:noFill/>
          <a:ln/>
        </p:spPr>
        <p:txBody>
          <a:bodyPr wrap="square" rtlCol="0"/>
          <a:lstStyle/>
          <a:p>
            <a:pPr algn="l" indent="0" marL="0">
              <a:buNone/>
            </a:pPr>
            <a:r>
              <a:rPr lang="en-US" sz="4000" b="1" dirty="0">
                <a:solidFill>
                  <a:srgbClr val="FFFFFF"/>
                </a:solidFill>
              </a:rPr>
              <a:t>The system</a:t>
            </a:r>
            <a:endParaRPr lang="en-US" sz="4000" dirty="0"/>
          </a:p>
        </p:txBody>
      </p:sp>
      <p:sp>
        <p:nvSpPr>
          <p:cNvPr id="5" name="Text 0"/>
          <p:cNvSpPr/>
          <p:nvPr>
            <p:ph idx="101" type="body" hasCustomPrompt="1"/>
          </p:nvPr>
        </p:nvSpPr>
        <p:spPr>
          <a:xfrm>
            <a:off x="640080" y="3703320"/>
            <a:ext cx="8229600" cy="1280160"/>
          </a:xfrm>
          <a:prstGeom prst="rect">
            <a:avLst/>
          </a:prstGeom>
          <a:noFill/>
          <a:ln/>
        </p:spPr>
        <p:txBody>
          <a:bodyPr wrap="square" rtlCol="0"/>
          <a:lstStyle/>
          <a:p>
            <a:pPr algn="l" indent="0" marL="0">
              <a:buNone/>
            </a:pPr>
            <a:r>
              <a:rPr lang="en-US" sz="1600" dirty="0">
                <a:solidFill>
                  <a:srgbClr val="8B93A7"/>
                </a:solidFill>
              </a:rPr>
              <a:t>What the problem is, how the loop works, and what keeps it bounded</a:t>
            </a:r>
            <a:endParaRPr lang="en-US" sz="1600" dirty="0"/>
          </a:p>
        </p:txBody>
      </p:sp>
      <p:sp>
        <p:nvSpPr>
          <p:cNvPr id="6" name="Text 4"/>
          <p:cNvSpPr txBox="1"/>
          <p:nvPr/>
        </p:nvSpPr>
        <p:spPr>
          <a:xfrm>
            <a:off x="640080" y="4572000"/>
            <a:ext cx="5486400" cy="274320"/>
          </a:xfrm>
          <a:prstGeom prst="rect">
            <a:avLst/>
          </a:prstGeom>
          <a:noFill/>
          <a:ln/>
        </p:spPr>
        <p:txBody>
          <a:bodyPr wrap="square" lIns="0" tIns="0" rIns="0" bIns="0" rtlCol="0" anchor="ctr"/>
          <a:lstStyle/>
          <a:p>
            <a:pPr indent="0" marL="0">
              <a:buNone/>
            </a:pPr>
            <a:r>
              <a:rPr lang="en-US" sz="1300" b="1" dirty="0">
                <a:solidFill>
                  <a:srgbClr val="3DDC97"/>
                </a:solidFill>
              </a:rPr>
              <a:t>Gautam Lasgotra · 23BCS032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Gautam Lasgotra · 23BCS032</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Models write code that looks right</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3DDC97"/>
                </a:solidFill>
              </a:rPr>
              <a:t>THE PROBLEM</a:t>
            </a:r>
            <a:endParaRPr lang="en-US" sz="1100" dirty="0"/>
          </a:p>
        </p:txBody>
      </p:sp>
      <p:sp>
        <p:nvSpPr>
          <p:cNvPr id="5" name="problem-1"/>
          <p:cNvSpPr/>
          <p:nvPr/>
        </p:nvSpPr>
        <p:spPr>
          <a:xfrm>
            <a:off x="640080" y="1783080"/>
            <a:ext cx="3438144" cy="2697480"/>
          </a:xfrm>
          <a:prstGeom prst="roundRect">
            <a:avLst>
              <a:gd name="adj" fmla="val 2034"/>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badge-1"/>
          <p:cNvSpPr/>
          <p:nvPr/>
        </p:nvSpPr>
        <p:spPr>
          <a:xfrm>
            <a:off x="914400" y="2057400"/>
            <a:ext cx="384048" cy="384048"/>
          </a:xfrm>
          <a:prstGeom prst="ellipse">
            <a:avLst/>
          </a:prstGeom>
          <a:solidFill>
            <a:srgbClr val="8B93A7"/>
          </a:solidFill>
          <a:ln w="12700">
            <a:solidFill>
              <a:srgbClr val="8B93A7"/>
            </a:solidFill>
            <a:prstDash val="solid"/>
          </a:ln>
        </p:spPr>
      </p:sp>
      <p:sp>
        <p:nvSpPr>
          <p:cNvPr id="7" name="Text 5"/>
          <p:cNvSpPr txBox="1"/>
          <p:nvPr/>
        </p:nvSpPr>
        <p:spPr>
          <a:xfrm>
            <a:off x="914400" y="2057400"/>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rPr>
              <a:t>1</a:t>
            </a:r>
            <a:endParaRPr lang="en-US" sz="1300" dirty="0"/>
          </a:p>
        </p:txBody>
      </p:sp>
      <p:sp>
        <p:nvSpPr>
          <p:cNvPr id="8" name="Text 6"/>
          <p:cNvSpPr txBox="1"/>
          <p:nvPr/>
        </p:nvSpPr>
        <p:spPr>
          <a:xfrm>
            <a:off x="914400" y="2606040"/>
            <a:ext cx="2889504" cy="365760"/>
          </a:xfrm>
          <a:prstGeom prst="rect">
            <a:avLst/>
          </a:prstGeom>
          <a:noFill/>
          <a:ln/>
        </p:spPr>
        <p:txBody>
          <a:bodyPr wrap="square" lIns="0" tIns="0" rIns="0" bIns="0" rtlCol="0" anchor="ctr"/>
          <a:lstStyle/>
          <a:p>
            <a:pPr indent="0" marL="0">
              <a:buNone/>
            </a:pPr>
            <a:r>
              <a:rPr lang="en-US" sz="1800" b="1" dirty="0">
                <a:solidFill>
                  <a:srgbClr val="FFFFFF"/>
                </a:solidFill>
              </a:rPr>
              <a:t>It looks correct</a:t>
            </a:r>
            <a:endParaRPr lang="en-US" sz="1800" dirty="0"/>
          </a:p>
        </p:txBody>
      </p:sp>
      <p:sp>
        <p:nvSpPr>
          <p:cNvPr id="9" name="Text 7"/>
          <p:cNvSpPr txBox="1"/>
          <p:nvPr/>
        </p:nvSpPr>
        <p:spPr>
          <a:xfrm>
            <a:off x="914400" y="3017520"/>
            <a:ext cx="2889504" cy="1280160"/>
          </a:xfrm>
          <a:prstGeom prst="rect">
            <a:avLst/>
          </a:prstGeom>
          <a:noFill/>
          <a:ln/>
        </p:spPr>
        <p:txBody>
          <a:bodyPr wrap="square" lIns="0" tIns="0" rIns="0" bIns="0" rtlCol="0" anchor="ctr"/>
          <a:lstStyle/>
          <a:p>
            <a:pPr indent="0" marL="0">
              <a:buNone/>
            </a:pPr>
            <a:r>
              <a:rPr lang="en-US" sz="1300" dirty="0">
                <a:solidFill>
                  <a:srgbClr val="8B93A7"/>
                </a:solidFill>
              </a:rPr>
              <a:t>Off-by-one, a missed edge case, an empty input never considered. Plausible, not verified.</a:t>
            </a:r>
            <a:endParaRPr lang="en-US" sz="1300" dirty="0"/>
          </a:p>
        </p:txBody>
      </p:sp>
      <p:sp>
        <p:nvSpPr>
          <p:cNvPr id="10" name="problem-2"/>
          <p:cNvSpPr/>
          <p:nvPr/>
        </p:nvSpPr>
        <p:spPr>
          <a:xfrm>
            <a:off x="4370832" y="1783080"/>
            <a:ext cx="3438144" cy="2697480"/>
          </a:xfrm>
          <a:prstGeom prst="roundRect">
            <a:avLst>
              <a:gd name="adj" fmla="val 2034"/>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1" name="badge-2"/>
          <p:cNvSpPr/>
          <p:nvPr/>
        </p:nvSpPr>
        <p:spPr>
          <a:xfrm>
            <a:off x="4645152" y="2057400"/>
            <a:ext cx="384048" cy="384048"/>
          </a:xfrm>
          <a:prstGeom prst="ellipse">
            <a:avLst/>
          </a:prstGeom>
          <a:solidFill>
            <a:srgbClr val="F0B429"/>
          </a:solidFill>
          <a:ln w="12700">
            <a:solidFill>
              <a:srgbClr val="F0B429"/>
            </a:solidFill>
            <a:prstDash val="solid"/>
          </a:ln>
        </p:spPr>
      </p:sp>
      <p:sp>
        <p:nvSpPr>
          <p:cNvPr id="12" name="Text 10"/>
          <p:cNvSpPr txBox="1"/>
          <p:nvPr/>
        </p:nvSpPr>
        <p:spPr>
          <a:xfrm>
            <a:off x="4645152" y="2057400"/>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rPr>
              <a:t>2</a:t>
            </a:r>
            <a:endParaRPr lang="en-US" sz="1300" dirty="0"/>
          </a:p>
        </p:txBody>
      </p:sp>
      <p:sp>
        <p:nvSpPr>
          <p:cNvPr id="13" name="Text 11"/>
          <p:cNvSpPr txBox="1"/>
          <p:nvPr/>
        </p:nvSpPr>
        <p:spPr>
          <a:xfrm>
            <a:off x="4645152" y="2606040"/>
            <a:ext cx="2889504" cy="365760"/>
          </a:xfrm>
          <a:prstGeom prst="rect">
            <a:avLst/>
          </a:prstGeom>
          <a:noFill/>
          <a:ln/>
        </p:spPr>
        <p:txBody>
          <a:bodyPr wrap="square" lIns="0" tIns="0" rIns="0" bIns="0" rtlCol="0" anchor="ctr"/>
          <a:lstStyle/>
          <a:p>
            <a:pPr indent="0" marL="0">
              <a:buNone/>
            </a:pPr>
            <a:r>
              <a:rPr lang="en-US" sz="1800" b="1" dirty="0">
                <a:solidFill>
                  <a:srgbClr val="FFFFFF"/>
                </a:solidFill>
              </a:rPr>
              <a:t>It cannot check itself</a:t>
            </a:r>
            <a:endParaRPr lang="en-US" sz="1800" dirty="0"/>
          </a:p>
        </p:txBody>
      </p:sp>
      <p:sp>
        <p:nvSpPr>
          <p:cNvPr id="14" name="Text 12"/>
          <p:cNvSpPr txBox="1"/>
          <p:nvPr/>
        </p:nvSpPr>
        <p:spPr>
          <a:xfrm>
            <a:off x="4645152" y="3017520"/>
            <a:ext cx="2889504" cy="1280160"/>
          </a:xfrm>
          <a:prstGeom prst="rect">
            <a:avLst/>
          </a:prstGeom>
          <a:noFill/>
          <a:ln/>
        </p:spPr>
        <p:txBody>
          <a:bodyPr wrap="square" lIns="0" tIns="0" rIns="0" bIns="0" rtlCol="0" anchor="ctr"/>
          <a:lstStyle/>
          <a:p>
            <a:pPr indent="0" marL="0">
              <a:buNone/>
            </a:pPr>
            <a:r>
              <a:rPr lang="en-US" sz="1300" dirty="0">
                <a:solidFill>
                  <a:srgbClr val="8B93A7"/>
                </a:solidFill>
              </a:rPr>
              <a:t>Huang et al., ICLR 2024: without feedback from outside the model, self-correction does not help and often degrades.</a:t>
            </a:r>
            <a:endParaRPr lang="en-US" sz="1300" dirty="0"/>
          </a:p>
        </p:txBody>
      </p:sp>
      <p:sp>
        <p:nvSpPr>
          <p:cNvPr id="15" name="problem-3"/>
          <p:cNvSpPr/>
          <p:nvPr/>
        </p:nvSpPr>
        <p:spPr>
          <a:xfrm>
            <a:off x="8101584" y="1783080"/>
            <a:ext cx="3438144" cy="2697480"/>
          </a:xfrm>
          <a:prstGeom prst="roundRect">
            <a:avLst>
              <a:gd name="adj" fmla="val 2034"/>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6" name="badge-3"/>
          <p:cNvSpPr/>
          <p:nvPr/>
        </p:nvSpPr>
        <p:spPr>
          <a:xfrm>
            <a:off x="8375904" y="2057400"/>
            <a:ext cx="384048" cy="384048"/>
          </a:xfrm>
          <a:prstGeom prst="ellipse">
            <a:avLst/>
          </a:prstGeom>
          <a:solidFill>
            <a:srgbClr val="3DDC97"/>
          </a:solidFill>
          <a:ln w="12700">
            <a:solidFill>
              <a:srgbClr val="3DDC97"/>
            </a:solidFill>
            <a:prstDash val="solid"/>
          </a:ln>
        </p:spPr>
      </p:sp>
      <p:sp>
        <p:nvSpPr>
          <p:cNvPr id="17" name="Text 15"/>
          <p:cNvSpPr txBox="1"/>
          <p:nvPr/>
        </p:nvSpPr>
        <p:spPr>
          <a:xfrm>
            <a:off x="8375904" y="2057400"/>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rPr>
              <a:t>3</a:t>
            </a:r>
            <a:endParaRPr lang="en-US" sz="1300" dirty="0"/>
          </a:p>
        </p:txBody>
      </p:sp>
      <p:sp>
        <p:nvSpPr>
          <p:cNvPr id="18" name="Text 16"/>
          <p:cNvSpPr txBox="1"/>
          <p:nvPr/>
        </p:nvSpPr>
        <p:spPr>
          <a:xfrm>
            <a:off x="8375904" y="2606040"/>
            <a:ext cx="2889504" cy="365760"/>
          </a:xfrm>
          <a:prstGeom prst="rect">
            <a:avLst/>
          </a:prstGeom>
          <a:noFill/>
          <a:ln/>
        </p:spPr>
        <p:txBody>
          <a:bodyPr wrap="square" lIns="0" tIns="0" rIns="0" bIns="0" rtlCol="0" anchor="ctr"/>
          <a:lstStyle/>
          <a:p>
            <a:pPr indent="0" marL="0">
              <a:buNone/>
            </a:pPr>
            <a:r>
              <a:rPr lang="en-US" sz="1800" b="1" dirty="0">
                <a:solidFill>
                  <a:srgbClr val="FFFFFF"/>
                </a:solidFill>
              </a:rPr>
              <a:t>So give it a fact</a:t>
            </a:r>
            <a:endParaRPr lang="en-US" sz="1800" dirty="0"/>
          </a:p>
        </p:txBody>
      </p:sp>
      <p:sp>
        <p:nvSpPr>
          <p:cNvPr id="19" name="Text 17"/>
          <p:cNvSpPr txBox="1"/>
          <p:nvPr/>
        </p:nvSpPr>
        <p:spPr>
          <a:xfrm>
            <a:off x="8375904" y="3017520"/>
            <a:ext cx="2889504" cy="1280160"/>
          </a:xfrm>
          <a:prstGeom prst="rect">
            <a:avLst/>
          </a:prstGeom>
          <a:noFill/>
          <a:ln/>
        </p:spPr>
        <p:txBody>
          <a:bodyPr wrap="square" lIns="0" tIns="0" rIns="0" bIns="0" rtlCol="0" anchor="ctr"/>
          <a:lstStyle/>
          <a:p>
            <a:pPr indent="0" marL="0">
              <a:buNone/>
            </a:pPr>
            <a:r>
              <a:rPr lang="en-US" sz="1300" dirty="0">
                <a:solidFill>
                  <a:srgbClr val="8B93A7"/>
                </a:solidFill>
              </a:rPr>
              <a:t>Run the code. Count which tests passed. That number is not an opinion.</a:t>
            </a:r>
            <a:endParaRPr lang="en-US" sz="1300" dirty="0"/>
          </a:p>
        </p:txBody>
      </p:sp>
      <p:sp>
        <p:nvSpPr>
          <p:cNvPr id="20" name="Text 18"/>
          <p:cNvSpPr txBox="1"/>
          <p:nvPr/>
        </p:nvSpPr>
        <p:spPr>
          <a:xfrm>
            <a:off x="640080" y="4846320"/>
            <a:ext cx="10881360" cy="457200"/>
          </a:xfrm>
          <a:prstGeom prst="rect">
            <a:avLst/>
          </a:prstGeom>
          <a:noFill/>
          <a:ln/>
        </p:spPr>
        <p:txBody>
          <a:bodyPr wrap="square" lIns="0" tIns="0" rIns="0" bIns="0" rtlCol="0" anchor="ctr"/>
          <a:lstStyle/>
          <a:p>
            <a:pPr indent="0" marL="0">
              <a:buNone/>
            </a:pPr>
            <a:r>
              <a:rPr lang="en-US" sz="1700" b="1" dirty="0">
                <a:solidFill>
                  <a:srgbClr val="FFFFFF"/>
                </a:solidFill>
              </a:rPr>
              <a:t>The agent that checks the work is not an LLM. </a:t>
            </a:r>
            <a:pPr indent="0" marL="0">
              <a:buNone/>
            </a:pPr>
            <a:r>
              <a:rPr lang="en-US" sz="1700" dirty="0">
                <a:solidFill>
                  <a:srgbClr val="E6E9EF"/>
                </a:solidFill>
              </a:rPr>
              <a:t>It is a program that runs the code and reports which tests failed.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Gautam Lasgotra · 23BCS032</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How the loop works</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3DDC97"/>
                </a:solidFill>
              </a:rPr>
              <a:t>ARCHITECTURE</a:t>
            </a:r>
            <a:endParaRPr lang="en-US" sz="1100" dirty="0"/>
          </a:p>
        </p:txBody>
      </p:sp>
      <p:sp>
        <p:nvSpPr>
          <p:cNvPr id="5" name="step-0"/>
          <p:cNvSpPr/>
          <p:nvPr/>
        </p:nvSpPr>
        <p:spPr>
          <a:xfrm>
            <a:off x="640080" y="1920240"/>
            <a:ext cx="20665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04672" y="2121408"/>
            <a:ext cx="1737360" cy="320040"/>
          </a:xfrm>
          <a:prstGeom prst="rect">
            <a:avLst/>
          </a:prstGeom>
          <a:noFill/>
          <a:ln/>
        </p:spPr>
        <p:txBody>
          <a:bodyPr wrap="square" lIns="0" tIns="0" rIns="0" bIns="0" rtlCol="0" anchor="ctr"/>
          <a:lstStyle/>
          <a:p>
            <a:pPr indent="0" marL="0">
              <a:buNone/>
            </a:pPr>
            <a:r>
              <a:rPr lang="en-US" sz="1400" b="1" dirty="0">
                <a:solidFill>
                  <a:srgbClr val="5B9DFF"/>
                </a:solidFill>
              </a:rPr>
              <a:t>Task</a:t>
            </a:r>
            <a:endParaRPr lang="en-US" sz="1400" dirty="0"/>
          </a:p>
        </p:txBody>
      </p:sp>
      <p:sp>
        <p:nvSpPr>
          <p:cNvPr id="7" name="Text 5"/>
          <p:cNvSpPr txBox="1"/>
          <p:nvPr/>
        </p:nvSpPr>
        <p:spPr>
          <a:xfrm>
            <a:off x="804672" y="2468880"/>
            <a:ext cx="1737360" cy="640080"/>
          </a:xfrm>
          <a:prstGeom prst="rect">
            <a:avLst/>
          </a:prstGeom>
          <a:noFill/>
          <a:ln/>
        </p:spPr>
        <p:txBody>
          <a:bodyPr wrap="square" lIns="0" tIns="0" rIns="0" bIns="0" rtlCol="0" anchor="ctr"/>
          <a:lstStyle/>
          <a:p>
            <a:pPr indent="0" marL="0">
              <a:buNone/>
            </a:pPr>
            <a:r>
              <a:rPr lang="en-US" sz="1150" dirty="0">
                <a:solidFill>
                  <a:srgbClr val="8B93A7"/>
                </a:solidFill>
              </a:rPr>
              <a:t>typed in at runtime</a:t>
            </a:r>
            <a:endParaRPr lang="en-US" sz="1150" dirty="0"/>
          </a:p>
        </p:txBody>
      </p:sp>
      <p:sp>
        <p:nvSpPr>
          <p:cNvPr id="8" name="Text 6"/>
          <p:cNvSpPr txBox="1"/>
          <p:nvPr/>
        </p:nvSpPr>
        <p:spPr>
          <a:xfrm>
            <a:off x="2724912" y="2377440"/>
            <a:ext cx="237744" cy="365760"/>
          </a:xfrm>
          <a:prstGeom prst="rect">
            <a:avLst/>
          </a:prstGeom>
          <a:noFill/>
          <a:ln/>
        </p:spPr>
        <p:txBody>
          <a:bodyPr wrap="square" lIns="0" tIns="0" rIns="0" bIns="0" rtlCol="0" anchor="ctr"/>
          <a:lstStyle/>
          <a:p>
            <a:pPr algn="ctr" indent="0" marL="0">
              <a:buNone/>
            </a:pPr>
            <a:r>
              <a:rPr lang="en-US" sz="2000" dirty="0">
                <a:solidFill>
                  <a:srgbClr val="2A2F3A"/>
                </a:solidFill>
              </a:rPr>
              <a:t>›</a:t>
            </a:r>
            <a:endParaRPr lang="en-US" sz="2000" dirty="0"/>
          </a:p>
        </p:txBody>
      </p:sp>
      <p:sp>
        <p:nvSpPr>
          <p:cNvPr id="9" name="step-1"/>
          <p:cNvSpPr/>
          <p:nvPr/>
        </p:nvSpPr>
        <p:spPr>
          <a:xfrm>
            <a:off x="2944368" y="1920240"/>
            <a:ext cx="20665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0" name="Text 8"/>
          <p:cNvSpPr txBox="1"/>
          <p:nvPr/>
        </p:nvSpPr>
        <p:spPr>
          <a:xfrm>
            <a:off x="3108960" y="2121408"/>
            <a:ext cx="1737360" cy="320040"/>
          </a:xfrm>
          <a:prstGeom prst="rect">
            <a:avLst/>
          </a:prstGeom>
          <a:noFill/>
          <a:ln/>
        </p:spPr>
        <p:txBody>
          <a:bodyPr wrap="square" lIns="0" tIns="0" rIns="0" bIns="0" rtlCol="0" anchor="ctr"/>
          <a:lstStyle/>
          <a:p>
            <a:pPr indent="0" marL="0">
              <a:buNone/>
            </a:pPr>
            <a:r>
              <a:rPr lang="en-US" sz="1400" b="1" dirty="0">
                <a:solidFill>
                  <a:srgbClr val="5B9DFF"/>
                </a:solidFill>
              </a:rPr>
              <a:t>Test designer</a:t>
            </a:r>
            <a:endParaRPr lang="en-US" sz="1400" dirty="0"/>
          </a:p>
        </p:txBody>
      </p:sp>
      <p:sp>
        <p:nvSpPr>
          <p:cNvPr id="11" name="Text 9"/>
          <p:cNvSpPr txBox="1"/>
          <p:nvPr/>
        </p:nvSpPr>
        <p:spPr>
          <a:xfrm>
            <a:off x="3108960" y="2468880"/>
            <a:ext cx="1737360" cy="640080"/>
          </a:xfrm>
          <a:prstGeom prst="rect">
            <a:avLst/>
          </a:prstGeom>
          <a:noFill/>
          <a:ln/>
        </p:spPr>
        <p:txBody>
          <a:bodyPr wrap="square" lIns="0" tIns="0" rIns="0" bIns="0" rtlCol="0" anchor="ctr"/>
          <a:lstStyle/>
          <a:p>
            <a:pPr indent="0" marL="0">
              <a:buNone/>
            </a:pPr>
            <a:r>
              <a:rPr lang="en-US" sz="1150" dirty="0">
                <a:solidFill>
                  <a:srgbClr val="8B93A7"/>
                </a:solidFill>
              </a:rPr>
              <a:t>writes executable tests</a:t>
            </a:r>
            <a:endParaRPr lang="en-US" sz="1150" dirty="0"/>
          </a:p>
        </p:txBody>
      </p:sp>
      <p:sp>
        <p:nvSpPr>
          <p:cNvPr id="12" name="Text 10"/>
          <p:cNvSpPr txBox="1"/>
          <p:nvPr/>
        </p:nvSpPr>
        <p:spPr>
          <a:xfrm>
            <a:off x="5029200" y="2377440"/>
            <a:ext cx="237744" cy="365760"/>
          </a:xfrm>
          <a:prstGeom prst="rect">
            <a:avLst/>
          </a:prstGeom>
          <a:noFill/>
          <a:ln/>
        </p:spPr>
        <p:txBody>
          <a:bodyPr wrap="square" lIns="0" tIns="0" rIns="0" bIns="0" rtlCol="0" anchor="ctr"/>
          <a:lstStyle/>
          <a:p>
            <a:pPr algn="ctr" indent="0" marL="0">
              <a:buNone/>
            </a:pPr>
            <a:r>
              <a:rPr lang="en-US" sz="2000" dirty="0">
                <a:solidFill>
                  <a:srgbClr val="2A2F3A"/>
                </a:solidFill>
              </a:rPr>
              <a:t>›</a:t>
            </a:r>
            <a:endParaRPr lang="en-US" sz="2000" dirty="0"/>
          </a:p>
        </p:txBody>
      </p:sp>
      <p:sp>
        <p:nvSpPr>
          <p:cNvPr id="13" name="step-2"/>
          <p:cNvSpPr/>
          <p:nvPr/>
        </p:nvSpPr>
        <p:spPr>
          <a:xfrm>
            <a:off x="5248656" y="1920240"/>
            <a:ext cx="20665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4" name="Text 12"/>
          <p:cNvSpPr txBox="1"/>
          <p:nvPr/>
        </p:nvSpPr>
        <p:spPr>
          <a:xfrm>
            <a:off x="5413248" y="2121408"/>
            <a:ext cx="1737360" cy="320040"/>
          </a:xfrm>
          <a:prstGeom prst="rect">
            <a:avLst/>
          </a:prstGeom>
          <a:noFill/>
          <a:ln/>
        </p:spPr>
        <p:txBody>
          <a:bodyPr wrap="square" lIns="0" tIns="0" rIns="0" bIns="0" rtlCol="0" anchor="ctr"/>
          <a:lstStyle/>
          <a:p>
            <a:pPr indent="0" marL="0">
              <a:buNone/>
            </a:pPr>
            <a:r>
              <a:rPr lang="en-US" sz="1400" b="1" dirty="0">
                <a:solidFill>
                  <a:srgbClr val="3DDC97"/>
                </a:solidFill>
              </a:rPr>
              <a:t>Generator</a:t>
            </a:r>
            <a:endParaRPr lang="en-US" sz="1400" dirty="0"/>
          </a:p>
        </p:txBody>
      </p:sp>
      <p:sp>
        <p:nvSpPr>
          <p:cNvPr id="15" name="Text 13"/>
          <p:cNvSpPr txBox="1"/>
          <p:nvPr/>
        </p:nvSpPr>
        <p:spPr>
          <a:xfrm>
            <a:off x="5413248" y="2468880"/>
            <a:ext cx="1737360" cy="640080"/>
          </a:xfrm>
          <a:prstGeom prst="rect">
            <a:avLst/>
          </a:prstGeom>
          <a:noFill/>
          <a:ln/>
        </p:spPr>
        <p:txBody>
          <a:bodyPr wrap="square" lIns="0" tIns="0" rIns="0" bIns="0" rtlCol="0" anchor="ctr"/>
          <a:lstStyle/>
          <a:p>
            <a:pPr indent="0" marL="0">
              <a:buNone/>
            </a:pPr>
            <a:r>
              <a:rPr lang="en-US" sz="1150" dirty="0">
                <a:solidFill>
                  <a:srgbClr val="8B93A7"/>
                </a:solidFill>
              </a:rPr>
              <a:t>writes a solution</a:t>
            </a:r>
            <a:endParaRPr lang="en-US" sz="1150" dirty="0"/>
          </a:p>
        </p:txBody>
      </p:sp>
      <p:sp>
        <p:nvSpPr>
          <p:cNvPr id="16" name="Text 14"/>
          <p:cNvSpPr txBox="1"/>
          <p:nvPr/>
        </p:nvSpPr>
        <p:spPr>
          <a:xfrm>
            <a:off x="7333488" y="2377440"/>
            <a:ext cx="237744" cy="365760"/>
          </a:xfrm>
          <a:prstGeom prst="rect">
            <a:avLst/>
          </a:prstGeom>
          <a:noFill/>
          <a:ln/>
        </p:spPr>
        <p:txBody>
          <a:bodyPr wrap="square" lIns="0" tIns="0" rIns="0" bIns="0" rtlCol="0" anchor="ctr"/>
          <a:lstStyle/>
          <a:p>
            <a:pPr algn="ctr" indent="0" marL="0">
              <a:buNone/>
            </a:pPr>
            <a:r>
              <a:rPr lang="en-US" sz="2000" dirty="0">
                <a:solidFill>
                  <a:srgbClr val="2A2F3A"/>
                </a:solidFill>
              </a:rPr>
              <a:t>›</a:t>
            </a:r>
            <a:endParaRPr lang="en-US" sz="2000" dirty="0"/>
          </a:p>
        </p:txBody>
      </p:sp>
      <p:sp>
        <p:nvSpPr>
          <p:cNvPr id="17" name="step-3"/>
          <p:cNvSpPr/>
          <p:nvPr/>
        </p:nvSpPr>
        <p:spPr>
          <a:xfrm>
            <a:off x="7552944" y="1920240"/>
            <a:ext cx="20665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7717536" y="2121408"/>
            <a:ext cx="1737360" cy="320040"/>
          </a:xfrm>
          <a:prstGeom prst="rect">
            <a:avLst/>
          </a:prstGeom>
          <a:noFill/>
          <a:ln/>
        </p:spPr>
        <p:txBody>
          <a:bodyPr wrap="square" lIns="0" tIns="0" rIns="0" bIns="0" rtlCol="0" anchor="ctr"/>
          <a:lstStyle/>
          <a:p>
            <a:pPr indent="0" marL="0">
              <a:buNone/>
            </a:pPr>
            <a:r>
              <a:rPr lang="en-US" sz="1400" b="1" dirty="0">
                <a:solidFill>
                  <a:srgbClr val="3DDC97"/>
                </a:solidFill>
              </a:rPr>
              <a:t>python_exec</a:t>
            </a:r>
            <a:endParaRPr lang="en-US" sz="1400" dirty="0"/>
          </a:p>
        </p:txBody>
      </p:sp>
      <p:sp>
        <p:nvSpPr>
          <p:cNvPr id="19" name="Text 17"/>
          <p:cNvSpPr txBox="1"/>
          <p:nvPr/>
        </p:nvSpPr>
        <p:spPr>
          <a:xfrm>
            <a:off x="7717536" y="2468880"/>
            <a:ext cx="1737360" cy="640080"/>
          </a:xfrm>
          <a:prstGeom prst="rect">
            <a:avLst/>
          </a:prstGeom>
          <a:noFill/>
          <a:ln/>
        </p:spPr>
        <p:txBody>
          <a:bodyPr wrap="square" lIns="0" tIns="0" rIns="0" bIns="0" rtlCol="0" anchor="ctr"/>
          <a:lstStyle/>
          <a:p>
            <a:pPr indent="0" marL="0">
              <a:buNone/>
            </a:pPr>
            <a:r>
              <a:rPr lang="en-US" sz="1150" dirty="0">
                <a:solidFill>
                  <a:srgbClr val="8B93A7"/>
                </a:solidFill>
              </a:rPr>
              <a:t>RUNS it — no LLM</a:t>
            </a:r>
            <a:endParaRPr lang="en-US" sz="1150" dirty="0"/>
          </a:p>
        </p:txBody>
      </p:sp>
      <p:sp>
        <p:nvSpPr>
          <p:cNvPr id="20" name="Text 18"/>
          <p:cNvSpPr txBox="1"/>
          <p:nvPr/>
        </p:nvSpPr>
        <p:spPr>
          <a:xfrm>
            <a:off x="9637776" y="2377440"/>
            <a:ext cx="237744" cy="365760"/>
          </a:xfrm>
          <a:prstGeom prst="rect">
            <a:avLst/>
          </a:prstGeom>
          <a:noFill/>
          <a:ln/>
        </p:spPr>
        <p:txBody>
          <a:bodyPr wrap="square" lIns="0" tIns="0" rIns="0" bIns="0" rtlCol="0" anchor="ctr"/>
          <a:lstStyle/>
          <a:p>
            <a:pPr algn="ctr" indent="0" marL="0">
              <a:buNone/>
            </a:pPr>
            <a:r>
              <a:rPr lang="en-US" sz="2000" dirty="0">
                <a:solidFill>
                  <a:srgbClr val="2A2F3A"/>
                </a:solidFill>
              </a:rPr>
              <a:t>›</a:t>
            </a:r>
            <a:endParaRPr lang="en-US" sz="2000" dirty="0"/>
          </a:p>
        </p:txBody>
      </p:sp>
      <p:sp>
        <p:nvSpPr>
          <p:cNvPr id="21" name="step-4"/>
          <p:cNvSpPr/>
          <p:nvPr/>
        </p:nvSpPr>
        <p:spPr>
          <a:xfrm>
            <a:off x="9857232" y="1920240"/>
            <a:ext cx="20665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10021824" y="2121408"/>
            <a:ext cx="1737360" cy="320040"/>
          </a:xfrm>
          <a:prstGeom prst="rect">
            <a:avLst/>
          </a:prstGeom>
          <a:noFill/>
          <a:ln/>
        </p:spPr>
        <p:txBody>
          <a:bodyPr wrap="square" lIns="0" tIns="0" rIns="0" bIns="0" rtlCol="0" anchor="ctr"/>
          <a:lstStyle/>
          <a:p>
            <a:pPr indent="0" marL="0">
              <a:buNone/>
            </a:pPr>
            <a:r>
              <a:rPr lang="en-US" sz="1400" b="1" dirty="0">
                <a:solidFill>
                  <a:srgbClr val="F0B429"/>
                </a:solidFill>
              </a:rPr>
              <a:t>Decision policy</a:t>
            </a:r>
            <a:endParaRPr lang="en-US" sz="1400" dirty="0"/>
          </a:p>
        </p:txBody>
      </p:sp>
      <p:sp>
        <p:nvSpPr>
          <p:cNvPr id="23" name="Text 21"/>
          <p:cNvSpPr txBox="1"/>
          <p:nvPr/>
        </p:nvSpPr>
        <p:spPr>
          <a:xfrm>
            <a:off x="10021824" y="2468880"/>
            <a:ext cx="1737360" cy="640080"/>
          </a:xfrm>
          <a:prstGeom prst="rect">
            <a:avLst/>
          </a:prstGeom>
          <a:noFill/>
          <a:ln/>
        </p:spPr>
        <p:txBody>
          <a:bodyPr wrap="square" lIns="0" tIns="0" rIns="0" bIns="0" rtlCol="0" anchor="ctr"/>
          <a:lstStyle/>
          <a:p>
            <a:pPr indent="0" marL="0">
              <a:buNone/>
            </a:pPr>
            <a:r>
              <a:rPr lang="en-US" sz="1150" dirty="0">
                <a:solidFill>
                  <a:srgbClr val="8B93A7"/>
                </a:solidFill>
              </a:rPr>
              <a:t>accept / refine / stop</a:t>
            </a:r>
            <a:endParaRPr lang="en-US" sz="1150" dirty="0"/>
          </a:p>
        </p:txBody>
      </p:sp>
      <p:sp>
        <p:nvSpPr>
          <p:cNvPr id="24" name="feedback"/>
          <p:cNvSpPr/>
          <p:nvPr/>
        </p:nvSpPr>
        <p:spPr>
          <a:xfrm>
            <a:off x="640080" y="3456432"/>
            <a:ext cx="10881360" cy="384048"/>
          </a:xfrm>
          <a:prstGeom prst="roundRect">
            <a:avLst>
              <a:gd name="adj" fmla="val 23810"/>
            </a:avLst>
          </a:prstGeom>
          <a:solidFill>
            <a:srgbClr val="1D212A"/>
          </a:solidFill>
          <a:ln w="12700">
            <a:solidFill>
              <a:srgbClr val="2A2F3A"/>
            </a:solidFill>
            <a:prstDash val="solid"/>
          </a:ln>
        </p:spPr>
      </p:sp>
      <p:sp>
        <p:nvSpPr>
          <p:cNvPr id="25" name="Text 23"/>
          <p:cNvSpPr txBox="1"/>
          <p:nvPr/>
        </p:nvSpPr>
        <p:spPr>
          <a:xfrm>
            <a:off x="640080" y="3456432"/>
            <a:ext cx="10881360" cy="384048"/>
          </a:xfrm>
          <a:prstGeom prst="rect">
            <a:avLst/>
          </a:prstGeom>
          <a:noFill/>
          <a:ln/>
        </p:spPr>
        <p:txBody>
          <a:bodyPr wrap="square" lIns="0" tIns="0" rIns="0" bIns="0" rtlCol="0" anchor="ctr"/>
          <a:lstStyle/>
          <a:p>
            <a:pPr algn="ctr" indent="0" marL="0">
              <a:buNone/>
            </a:pPr>
            <a:r>
              <a:rPr lang="en-US" sz="1200" dirty="0">
                <a:solidFill>
                  <a:srgbClr val="3DDC97"/>
                </a:solidFill>
              </a:rPr>
              <a:t>feedback: the names of the tests that failed  ←  loops back to the generator</a:t>
            </a:r>
            <a:endParaRPr lang="en-US" sz="1200" dirty="0"/>
          </a:p>
        </p:txBody>
      </p:sp>
      <p:sp>
        <p:nvSpPr>
          <p:cNvPr id="26" name="Text 24"/>
          <p:cNvSpPr txBox="1"/>
          <p:nvPr/>
        </p:nvSpPr>
        <p:spPr>
          <a:xfrm>
            <a:off x="640080" y="4114800"/>
            <a:ext cx="10881360" cy="731520"/>
          </a:xfrm>
          <a:prstGeom prst="rect">
            <a:avLst/>
          </a:prstGeom>
          <a:noFill/>
          <a:ln/>
        </p:spPr>
        <p:txBody>
          <a:bodyPr wrap="square" lIns="0" tIns="0" rIns="0" bIns="0" rtlCol="0" anchor="ctr"/>
          <a:lstStyle/>
          <a:p>
            <a:pPr indent="0" marL="0">
              <a:buNone/>
            </a:pPr>
            <a:r>
              <a:rPr lang="en-US" sz="1400" dirty="0">
                <a:solidFill>
                  <a:srgbClr val="E6E9EF"/>
                </a:solidFill>
              </a:rPr>
              <a:t>An agent is a role prompt, one model call, and a typed parse. Agents differ only in their system prompt — repair is told not to trust the previous approach, critic is told to review sceptically.</a:t>
            </a:r>
            <a:endParaRPr lang="en-US" sz="1400" dirty="0"/>
          </a:p>
        </p:txBody>
      </p:sp>
      <p:sp>
        <p:nvSpPr>
          <p:cNvPr id="27" name="Text 25"/>
          <p:cNvSpPr txBox="1"/>
          <p:nvPr/>
        </p:nvSpPr>
        <p:spPr>
          <a:xfrm>
            <a:off x="640080" y="4937760"/>
            <a:ext cx="2743200" cy="713232"/>
          </a:xfrm>
          <a:prstGeom prst="rect">
            <a:avLst/>
          </a:prstGeom>
          <a:noFill/>
          <a:ln/>
        </p:spPr>
        <p:txBody>
          <a:bodyPr wrap="square" lIns="0" tIns="0" rIns="0" bIns="0" rtlCol="0" anchor="ctr"/>
          <a:lstStyle/>
          <a:p>
            <a:pPr algn="l" indent="0" marL="0">
              <a:buNone/>
            </a:pPr>
            <a:r>
              <a:rPr lang="en-US" sz="4000" b="1" dirty="0">
                <a:solidFill>
                  <a:srgbClr val="3DDC97"/>
                </a:solidFill>
              </a:rPr>
              <a:t>~200</a:t>
            </a:r>
            <a:endParaRPr lang="en-US" sz="4000" dirty="0"/>
          </a:p>
        </p:txBody>
      </p:sp>
      <p:sp>
        <p:nvSpPr>
          <p:cNvPr id="28" name="Text 26"/>
          <p:cNvSpPr txBox="1"/>
          <p:nvPr/>
        </p:nvSpPr>
        <p:spPr>
          <a:xfrm>
            <a:off x="640080" y="5632704"/>
            <a:ext cx="2743200" cy="457200"/>
          </a:xfrm>
          <a:prstGeom prst="rect">
            <a:avLst/>
          </a:prstGeom>
          <a:noFill/>
          <a:ln/>
        </p:spPr>
        <p:txBody>
          <a:bodyPr wrap="square" lIns="0" tIns="0" rIns="0" bIns="0" rtlCol="0" anchor="ctr"/>
          <a:lstStyle/>
          <a:p>
            <a:pPr algn="l" indent="0" marL="0">
              <a:buNone/>
            </a:pPr>
            <a:r>
              <a:rPr lang="en-US" sz="1200" dirty="0">
                <a:solidFill>
                  <a:srgbClr val="8B93A7"/>
                </a:solidFill>
              </a:rPr>
              <a:t>lines in the orchestration core</a:t>
            </a:r>
            <a:endParaRPr lang="en-US" sz="1200" dirty="0"/>
          </a:p>
        </p:txBody>
      </p:sp>
      <p:sp>
        <p:nvSpPr>
          <p:cNvPr id="29" name="Text 27"/>
          <p:cNvSpPr txBox="1"/>
          <p:nvPr/>
        </p:nvSpPr>
        <p:spPr>
          <a:xfrm>
            <a:off x="4370832" y="4937760"/>
            <a:ext cx="2743200" cy="713232"/>
          </a:xfrm>
          <a:prstGeom prst="rect">
            <a:avLst/>
          </a:prstGeom>
          <a:noFill/>
          <a:ln/>
        </p:spPr>
        <p:txBody>
          <a:bodyPr wrap="square" lIns="0" tIns="0" rIns="0" bIns="0" rtlCol="0" anchor="ctr"/>
          <a:lstStyle/>
          <a:p>
            <a:pPr algn="l" indent="0" marL="0">
              <a:buNone/>
            </a:pPr>
            <a:r>
              <a:rPr lang="en-US" sz="4000" b="1" dirty="0">
                <a:solidFill>
                  <a:srgbClr val="5B9DFF"/>
                </a:solidFill>
              </a:rPr>
              <a:t>~2,700</a:t>
            </a:r>
            <a:endParaRPr lang="en-US" sz="4000" dirty="0"/>
          </a:p>
        </p:txBody>
      </p:sp>
      <p:sp>
        <p:nvSpPr>
          <p:cNvPr id="30" name="Text 28"/>
          <p:cNvSpPr txBox="1"/>
          <p:nvPr/>
        </p:nvSpPr>
        <p:spPr>
          <a:xfrm>
            <a:off x="4370832" y="5632704"/>
            <a:ext cx="2743200" cy="457200"/>
          </a:xfrm>
          <a:prstGeom prst="rect">
            <a:avLst/>
          </a:prstGeom>
          <a:noFill/>
          <a:ln/>
        </p:spPr>
        <p:txBody>
          <a:bodyPr wrap="square" lIns="0" tIns="0" rIns="0" bIns="0" rtlCol="0" anchor="ctr"/>
          <a:lstStyle/>
          <a:p>
            <a:pPr algn="l" indent="0" marL="0">
              <a:buNone/>
            </a:pPr>
            <a:r>
              <a:rPr lang="en-US" sz="1200" dirty="0">
                <a:solidFill>
                  <a:srgbClr val="8B93A7"/>
                </a:solidFill>
              </a:rPr>
              <a:t>lines of Python in total</a:t>
            </a:r>
            <a:endParaRPr lang="en-US" sz="1200" dirty="0"/>
          </a:p>
        </p:txBody>
      </p:sp>
      <p:sp>
        <p:nvSpPr>
          <p:cNvPr id="31" name="Text 29"/>
          <p:cNvSpPr txBox="1"/>
          <p:nvPr/>
        </p:nvSpPr>
        <p:spPr>
          <a:xfrm>
            <a:off x="8101584" y="4937760"/>
            <a:ext cx="3017520" cy="713232"/>
          </a:xfrm>
          <a:prstGeom prst="rect">
            <a:avLst/>
          </a:prstGeom>
          <a:noFill/>
          <a:ln/>
        </p:spPr>
        <p:txBody>
          <a:bodyPr wrap="square" lIns="0" tIns="0" rIns="0" bIns="0" rtlCol="0" anchor="ctr"/>
          <a:lstStyle/>
          <a:p>
            <a:pPr algn="l" indent="0" marL="0">
              <a:buNone/>
            </a:pPr>
            <a:r>
              <a:rPr lang="en-US" sz="4000" b="1" dirty="0">
                <a:solidFill>
                  <a:srgbClr val="F0B429"/>
                </a:solidFill>
              </a:rPr>
              <a:t>0</a:t>
            </a:r>
            <a:endParaRPr lang="en-US" sz="4000" dirty="0"/>
          </a:p>
        </p:txBody>
      </p:sp>
      <p:sp>
        <p:nvSpPr>
          <p:cNvPr id="32" name="Text 30"/>
          <p:cNvSpPr txBox="1"/>
          <p:nvPr/>
        </p:nvSpPr>
        <p:spPr>
          <a:xfrm>
            <a:off x="8101584" y="5632704"/>
            <a:ext cx="3017520" cy="457200"/>
          </a:xfrm>
          <a:prstGeom prst="rect">
            <a:avLst/>
          </a:prstGeom>
          <a:noFill/>
          <a:ln/>
        </p:spPr>
        <p:txBody>
          <a:bodyPr wrap="square" lIns="0" tIns="0" rIns="0" bIns="0" rtlCol="0" anchor="ctr"/>
          <a:lstStyle/>
          <a:p>
            <a:pPr algn="l" indent="0" marL="0">
              <a:buNone/>
            </a:pPr>
            <a:r>
              <a:rPr lang="en-US" sz="1200" dirty="0">
                <a:solidFill>
                  <a:srgbClr val="8B93A7"/>
                </a:solidFill>
              </a:rPr>
              <a:t>LLMs inside the code validator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Gautam Lasgotra · 23BCS032</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One real run, step by step</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3DDC97"/>
                </a:solidFill>
              </a:rPr>
              <a:t>WORKED EXAMPLE</a:t>
            </a:r>
            <a:endParaRPr lang="en-US" sz="1100" dirty="0"/>
          </a:p>
        </p:txBody>
      </p:sp>
      <p:sp>
        <p:nvSpPr>
          <p:cNvPr id="5" name="row-0"/>
          <p:cNvSpPr/>
          <p:nvPr/>
        </p:nvSpPr>
        <p:spPr>
          <a:xfrm>
            <a:off x="640080" y="1783080"/>
            <a:ext cx="10881360" cy="475488"/>
          </a:xfrm>
          <a:prstGeom prst="roundRect">
            <a:avLst>
              <a:gd name="adj" fmla="val 11538"/>
            </a:avLst>
          </a:prstGeom>
          <a:solidFill>
            <a:srgbClr val="1D212A"/>
          </a:solidFill>
          <a:ln w="12700">
            <a:solidFill>
              <a:srgbClr val="2A2F3A"/>
            </a:solidFill>
            <a:prstDash val="solid"/>
          </a:ln>
        </p:spPr>
      </p:sp>
      <p:sp>
        <p:nvSpPr>
          <p:cNvPr id="6" name="Text 4"/>
          <p:cNvSpPr txBox="1"/>
          <p:nvPr/>
        </p:nvSpPr>
        <p:spPr>
          <a:xfrm>
            <a:off x="841248" y="1783080"/>
            <a:ext cx="2286000" cy="475488"/>
          </a:xfrm>
          <a:prstGeom prst="rect">
            <a:avLst/>
          </a:prstGeom>
          <a:noFill/>
          <a:ln/>
        </p:spPr>
        <p:txBody>
          <a:bodyPr wrap="square" lIns="0" tIns="0" rIns="0" bIns="0" rtlCol="0" anchor="ctr"/>
          <a:lstStyle/>
          <a:p>
            <a:pPr indent="0" marL="0">
              <a:buNone/>
            </a:pPr>
            <a:r>
              <a:rPr lang="en-US" sz="1300" b="1" dirty="0">
                <a:solidFill>
                  <a:srgbClr val="8B93A7"/>
                </a:solidFill>
              </a:rPr>
              <a:t>test_designer</a:t>
            </a:r>
            <a:endParaRPr lang="en-US" sz="1300" dirty="0"/>
          </a:p>
        </p:txBody>
      </p:sp>
      <p:sp>
        <p:nvSpPr>
          <p:cNvPr id="7" name="Text 5"/>
          <p:cNvSpPr txBox="1"/>
          <p:nvPr/>
        </p:nvSpPr>
        <p:spPr>
          <a:xfrm>
            <a:off x="3200400" y="1783080"/>
            <a:ext cx="5852160" cy="475488"/>
          </a:xfrm>
          <a:prstGeom prst="rect">
            <a:avLst/>
          </a:prstGeom>
          <a:noFill/>
          <a:ln/>
        </p:spPr>
        <p:txBody>
          <a:bodyPr wrap="square" lIns="0" tIns="0" rIns="0" bIns="0" rtlCol="0" anchor="ctr"/>
          <a:lstStyle/>
          <a:p>
            <a:pPr indent="0" marL="0">
              <a:buNone/>
            </a:pPr>
            <a:r>
              <a:rPr lang="en-US" sz="1300" dirty="0">
                <a:solidFill>
                  <a:srgbClr val="E6E9EF"/>
                </a:solidFill>
              </a:rPr>
              <a:t>wrote 4 tests, fixed the name as compare_versions</a:t>
            </a:r>
            <a:endParaRPr lang="en-US" sz="1300" dirty="0"/>
          </a:p>
        </p:txBody>
      </p:sp>
      <p:sp>
        <p:nvSpPr>
          <p:cNvPr id="8" name="row-1"/>
          <p:cNvSpPr/>
          <p:nvPr/>
        </p:nvSpPr>
        <p:spPr>
          <a:xfrm>
            <a:off x="640080" y="2359152"/>
            <a:ext cx="10881360" cy="475488"/>
          </a:xfrm>
          <a:prstGeom prst="roundRect">
            <a:avLst>
              <a:gd name="adj" fmla="val 11538"/>
            </a:avLst>
          </a:prstGeom>
          <a:solidFill>
            <a:srgbClr val="0F1115"/>
          </a:solidFill>
          <a:ln w="12700">
            <a:solidFill>
              <a:srgbClr val="2A2F3A"/>
            </a:solidFill>
            <a:prstDash val="solid"/>
          </a:ln>
        </p:spPr>
      </p:sp>
      <p:sp>
        <p:nvSpPr>
          <p:cNvPr id="9" name="Text 7"/>
          <p:cNvSpPr txBox="1"/>
          <p:nvPr/>
        </p:nvSpPr>
        <p:spPr>
          <a:xfrm>
            <a:off x="841248" y="2359152"/>
            <a:ext cx="2286000" cy="475488"/>
          </a:xfrm>
          <a:prstGeom prst="rect">
            <a:avLst/>
          </a:prstGeom>
          <a:noFill/>
          <a:ln/>
        </p:spPr>
        <p:txBody>
          <a:bodyPr wrap="square" lIns="0" tIns="0" rIns="0" bIns="0" rtlCol="0" anchor="ctr"/>
          <a:lstStyle/>
          <a:p>
            <a:pPr indent="0" marL="0">
              <a:buNone/>
            </a:pPr>
            <a:r>
              <a:rPr lang="en-US" sz="1300" b="1" dirty="0">
                <a:solidFill>
                  <a:srgbClr val="8B93A7"/>
                </a:solidFill>
              </a:rPr>
              <a:t>generator</a:t>
            </a:r>
            <a:endParaRPr lang="en-US" sz="1300" dirty="0"/>
          </a:p>
        </p:txBody>
      </p:sp>
      <p:sp>
        <p:nvSpPr>
          <p:cNvPr id="10" name="Text 8"/>
          <p:cNvSpPr txBox="1"/>
          <p:nvPr/>
        </p:nvSpPr>
        <p:spPr>
          <a:xfrm>
            <a:off x="3200400" y="2359152"/>
            <a:ext cx="5852160" cy="475488"/>
          </a:xfrm>
          <a:prstGeom prst="rect">
            <a:avLst/>
          </a:prstGeom>
          <a:noFill/>
          <a:ln/>
        </p:spPr>
        <p:txBody>
          <a:bodyPr wrap="square" lIns="0" tIns="0" rIns="0" bIns="0" rtlCol="0" anchor="ctr"/>
          <a:lstStyle/>
          <a:p>
            <a:pPr indent="0" marL="0">
              <a:buNone/>
            </a:pPr>
            <a:r>
              <a:rPr lang="en-US" sz="1300" dirty="0">
                <a:solidFill>
                  <a:srgbClr val="E6E9EF"/>
                </a:solidFill>
              </a:rPr>
              <a:t>first attempt</a:t>
            </a:r>
            <a:endParaRPr lang="en-US" sz="1300" dirty="0"/>
          </a:p>
        </p:txBody>
      </p:sp>
      <p:sp>
        <p:nvSpPr>
          <p:cNvPr id="11" name="row-2"/>
          <p:cNvSpPr/>
          <p:nvPr/>
        </p:nvSpPr>
        <p:spPr>
          <a:xfrm>
            <a:off x="640080" y="2935224"/>
            <a:ext cx="10881360" cy="475488"/>
          </a:xfrm>
          <a:prstGeom prst="roundRect">
            <a:avLst>
              <a:gd name="adj" fmla="val 11538"/>
            </a:avLst>
          </a:prstGeom>
          <a:solidFill>
            <a:srgbClr val="1D212A"/>
          </a:solidFill>
          <a:ln w="12700">
            <a:solidFill>
              <a:srgbClr val="2A2F3A"/>
            </a:solidFill>
            <a:prstDash val="solid"/>
          </a:ln>
        </p:spPr>
      </p:sp>
      <p:sp>
        <p:nvSpPr>
          <p:cNvPr id="12" name="Text 10"/>
          <p:cNvSpPr txBox="1"/>
          <p:nvPr/>
        </p:nvSpPr>
        <p:spPr>
          <a:xfrm>
            <a:off x="841248" y="2935224"/>
            <a:ext cx="2286000" cy="475488"/>
          </a:xfrm>
          <a:prstGeom prst="rect">
            <a:avLst/>
          </a:prstGeom>
          <a:noFill/>
          <a:ln/>
        </p:spPr>
        <p:txBody>
          <a:bodyPr wrap="square" lIns="0" tIns="0" rIns="0" bIns="0" rtlCol="0" anchor="ctr"/>
          <a:lstStyle/>
          <a:p>
            <a:pPr indent="0" marL="0">
              <a:buNone/>
            </a:pPr>
            <a:r>
              <a:rPr lang="en-US" sz="1300" b="1" dirty="0">
                <a:solidFill>
                  <a:srgbClr val="F0B429"/>
                </a:solidFill>
              </a:rPr>
              <a:t>python_exec</a:t>
            </a:r>
            <a:endParaRPr lang="en-US" sz="1300" dirty="0"/>
          </a:p>
        </p:txBody>
      </p:sp>
      <p:sp>
        <p:nvSpPr>
          <p:cNvPr id="13" name="Text 11"/>
          <p:cNvSpPr txBox="1"/>
          <p:nvPr/>
        </p:nvSpPr>
        <p:spPr>
          <a:xfrm>
            <a:off x="3200400" y="2935224"/>
            <a:ext cx="5852160" cy="475488"/>
          </a:xfrm>
          <a:prstGeom prst="rect">
            <a:avLst/>
          </a:prstGeom>
          <a:noFill/>
          <a:ln/>
        </p:spPr>
        <p:txBody>
          <a:bodyPr wrap="square" lIns="0" tIns="0" rIns="0" bIns="0" rtlCol="0" anchor="ctr"/>
          <a:lstStyle/>
          <a:p>
            <a:pPr indent="0" marL="0">
              <a:buNone/>
            </a:pPr>
            <a:r>
              <a:rPr lang="en-US" sz="1300" dirty="0">
                <a:solidFill>
                  <a:srgbClr val="E6E9EF"/>
                </a:solidFill>
              </a:rPr>
              <a:t>score = 0.75   ·   3 of 4 tests passed</a:t>
            </a:r>
            <a:endParaRPr lang="en-US" sz="1300" dirty="0"/>
          </a:p>
        </p:txBody>
      </p:sp>
      <p:sp>
        <p:nvSpPr>
          <p:cNvPr id="14" name="Text 12"/>
          <p:cNvSpPr txBox="1"/>
          <p:nvPr/>
        </p:nvSpPr>
        <p:spPr>
          <a:xfrm>
            <a:off x="9235440" y="2935224"/>
            <a:ext cx="2103120" cy="475488"/>
          </a:xfrm>
          <a:prstGeom prst="rect">
            <a:avLst/>
          </a:prstGeom>
          <a:noFill/>
          <a:ln/>
        </p:spPr>
        <p:txBody>
          <a:bodyPr wrap="square" lIns="0" tIns="0" rIns="0" bIns="0" rtlCol="0" anchor="ctr"/>
          <a:lstStyle/>
          <a:p>
            <a:pPr algn="r" indent="0" marL="0">
              <a:buNone/>
            </a:pPr>
            <a:r>
              <a:rPr lang="en-US" sz="1100" b="1" dirty="0">
                <a:solidFill>
                  <a:srgbClr val="F0B429"/>
                </a:solidFill>
              </a:rPr>
              <a:t>FAILED</a:t>
            </a:r>
            <a:endParaRPr lang="en-US" sz="1100" dirty="0"/>
          </a:p>
        </p:txBody>
      </p:sp>
      <p:sp>
        <p:nvSpPr>
          <p:cNvPr id="15" name="row-3"/>
          <p:cNvSpPr/>
          <p:nvPr/>
        </p:nvSpPr>
        <p:spPr>
          <a:xfrm>
            <a:off x="640080" y="3511296"/>
            <a:ext cx="10881360" cy="475488"/>
          </a:xfrm>
          <a:prstGeom prst="roundRect">
            <a:avLst>
              <a:gd name="adj" fmla="val 11538"/>
            </a:avLst>
          </a:prstGeom>
          <a:solidFill>
            <a:srgbClr val="0F1115"/>
          </a:solidFill>
          <a:ln w="12700">
            <a:solidFill>
              <a:srgbClr val="2A2F3A"/>
            </a:solidFill>
            <a:prstDash val="solid"/>
          </a:ln>
        </p:spPr>
      </p:sp>
      <p:sp>
        <p:nvSpPr>
          <p:cNvPr id="16" name="Text 14"/>
          <p:cNvSpPr txBox="1"/>
          <p:nvPr/>
        </p:nvSpPr>
        <p:spPr>
          <a:xfrm>
            <a:off x="841248" y="3511296"/>
            <a:ext cx="2286000" cy="475488"/>
          </a:xfrm>
          <a:prstGeom prst="rect">
            <a:avLst/>
          </a:prstGeom>
          <a:noFill/>
          <a:ln/>
        </p:spPr>
        <p:txBody>
          <a:bodyPr wrap="square" lIns="0" tIns="0" rIns="0" bIns="0" rtlCol="0" anchor="ctr"/>
          <a:lstStyle/>
          <a:p>
            <a:pPr indent="0" marL="0">
              <a:buNone/>
            </a:pPr>
            <a:r>
              <a:rPr lang="en-US" sz="1300" b="1" dirty="0">
                <a:solidFill>
                  <a:srgbClr val="FF6B6B"/>
                </a:solidFill>
              </a:rPr>
              <a:t>llm_critic</a:t>
            </a:r>
            <a:endParaRPr lang="en-US" sz="1300" dirty="0"/>
          </a:p>
        </p:txBody>
      </p:sp>
      <p:sp>
        <p:nvSpPr>
          <p:cNvPr id="17" name="Text 15"/>
          <p:cNvSpPr txBox="1"/>
          <p:nvPr/>
        </p:nvSpPr>
        <p:spPr>
          <a:xfrm>
            <a:off x="3200400" y="3511296"/>
            <a:ext cx="5852160" cy="475488"/>
          </a:xfrm>
          <a:prstGeom prst="rect">
            <a:avLst/>
          </a:prstGeom>
          <a:noFill/>
          <a:ln/>
        </p:spPr>
        <p:txBody>
          <a:bodyPr wrap="square" lIns="0" tIns="0" rIns="0" bIns="0" rtlCol="0" anchor="ctr"/>
          <a:lstStyle/>
          <a:p>
            <a:pPr indent="0" marL="0">
              <a:buNone/>
            </a:pPr>
            <a:r>
              <a:rPr lang="en-US" sz="1300" dirty="0">
                <a:solidFill>
                  <a:srgbClr val="E6E9EF"/>
                </a:solidFill>
              </a:rPr>
              <a:t>"passed"</a:t>
            </a:r>
            <a:endParaRPr lang="en-US" sz="1300" dirty="0"/>
          </a:p>
        </p:txBody>
      </p:sp>
      <p:sp>
        <p:nvSpPr>
          <p:cNvPr id="18" name="Text 16"/>
          <p:cNvSpPr txBox="1"/>
          <p:nvPr/>
        </p:nvSpPr>
        <p:spPr>
          <a:xfrm>
            <a:off x="9235440" y="3511296"/>
            <a:ext cx="2103120" cy="475488"/>
          </a:xfrm>
          <a:prstGeom prst="rect">
            <a:avLst/>
          </a:prstGeom>
          <a:noFill/>
          <a:ln/>
        </p:spPr>
        <p:txBody>
          <a:bodyPr wrap="square" lIns="0" tIns="0" rIns="0" bIns="0" rtlCol="0" anchor="ctr"/>
          <a:lstStyle/>
          <a:p>
            <a:pPr algn="r" indent="0" marL="0">
              <a:buNone/>
            </a:pPr>
            <a:r>
              <a:rPr lang="en-US" sz="1100" b="1" dirty="0">
                <a:solidFill>
                  <a:srgbClr val="FF6B6B"/>
                </a:solidFill>
              </a:rPr>
              <a:t>FALSE ACCEPT</a:t>
            </a:r>
            <a:endParaRPr lang="en-US" sz="1100" dirty="0"/>
          </a:p>
        </p:txBody>
      </p:sp>
      <p:sp>
        <p:nvSpPr>
          <p:cNvPr id="19" name="row-4"/>
          <p:cNvSpPr/>
          <p:nvPr/>
        </p:nvSpPr>
        <p:spPr>
          <a:xfrm>
            <a:off x="640080" y="4087368"/>
            <a:ext cx="10881360" cy="475488"/>
          </a:xfrm>
          <a:prstGeom prst="roundRect">
            <a:avLst>
              <a:gd name="adj" fmla="val 11538"/>
            </a:avLst>
          </a:prstGeom>
          <a:solidFill>
            <a:srgbClr val="1D212A"/>
          </a:solidFill>
          <a:ln w="12700">
            <a:solidFill>
              <a:srgbClr val="2A2F3A"/>
            </a:solidFill>
            <a:prstDash val="solid"/>
          </a:ln>
        </p:spPr>
      </p:sp>
      <p:sp>
        <p:nvSpPr>
          <p:cNvPr id="20" name="Text 18"/>
          <p:cNvSpPr txBox="1"/>
          <p:nvPr/>
        </p:nvSpPr>
        <p:spPr>
          <a:xfrm>
            <a:off x="841248" y="4087368"/>
            <a:ext cx="2286000" cy="475488"/>
          </a:xfrm>
          <a:prstGeom prst="rect">
            <a:avLst/>
          </a:prstGeom>
          <a:noFill/>
          <a:ln/>
        </p:spPr>
        <p:txBody>
          <a:bodyPr wrap="square" lIns="0" tIns="0" rIns="0" bIns="0" rtlCol="0" anchor="ctr"/>
          <a:lstStyle/>
          <a:p>
            <a:pPr indent="0" marL="0">
              <a:buNone/>
            </a:pPr>
            <a:r>
              <a:rPr lang="en-US" sz="1300" b="1" dirty="0">
                <a:solidFill>
                  <a:srgbClr val="5B9DFF"/>
                </a:solidFill>
              </a:rPr>
              <a:t>decision policy</a:t>
            </a:r>
            <a:endParaRPr lang="en-US" sz="1300" dirty="0"/>
          </a:p>
        </p:txBody>
      </p:sp>
      <p:sp>
        <p:nvSpPr>
          <p:cNvPr id="21" name="Text 19"/>
          <p:cNvSpPr txBox="1"/>
          <p:nvPr/>
        </p:nvSpPr>
        <p:spPr>
          <a:xfrm>
            <a:off x="3200400" y="4087368"/>
            <a:ext cx="5852160" cy="475488"/>
          </a:xfrm>
          <a:prstGeom prst="rect">
            <a:avLst/>
          </a:prstGeom>
          <a:noFill/>
          <a:ln/>
        </p:spPr>
        <p:txBody>
          <a:bodyPr wrap="square" lIns="0" tIns="0" rIns="0" bIns="0" rtlCol="0" anchor="ctr"/>
          <a:lstStyle/>
          <a:p>
            <a:pPr indent="0" marL="0">
              <a:buNone/>
            </a:pPr>
            <a:r>
              <a:rPr lang="en-US" sz="1300" dirty="0">
                <a:solidFill>
                  <a:srgbClr val="E6E9EF"/>
                </a:solidFill>
              </a:rPr>
              <a:t>refine</a:t>
            </a:r>
            <a:endParaRPr lang="en-US" sz="1300" dirty="0"/>
          </a:p>
        </p:txBody>
      </p:sp>
      <p:sp>
        <p:nvSpPr>
          <p:cNvPr id="22" name="row-5"/>
          <p:cNvSpPr/>
          <p:nvPr/>
        </p:nvSpPr>
        <p:spPr>
          <a:xfrm>
            <a:off x="640080" y="4663440"/>
            <a:ext cx="10881360" cy="475488"/>
          </a:xfrm>
          <a:prstGeom prst="roundRect">
            <a:avLst>
              <a:gd name="adj" fmla="val 11538"/>
            </a:avLst>
          </a:prstGeom>
          <a:solidFill>
            <a:srgbClr val="0F1115"/>
          </a:solidFill>
          <a:ln w="12700">
            <a:solidFill>
              <a:srgbClr val="2A2F3A"/>
            </a:solidFill>
            <a:prstDash val="solid"/>
          </a:ln>
        </p:spPr>
      </p:sp>
      <p:sp>
        <p:nvSpPr>
          <p:cNvPr id="23" name="Text 21"/>
          <p:cNvSpPr txBox="1"/>
          <p:nvPr/>
        </p:nvSpPr>
        <p:spPr>
          <a:xfrm>
            <a:off x="841248" y="4663440"/>
            <a:ext cx="2286000" cy="475488"/>
          </a:xfrm>
          <a:prstGeom prst="rect">
            <a:avLst/>
          </a:prstGeom>
          <a:noFill/>
          <a:ln/>
        </p:spPr>
        <p:txBody>
          <a:bodyPr wrap="square" lIns="0" tIns="0" rIns="0" bIns="0" rtlCol="0" anchor="ctr"/>
          <a:lstStyle/>
          <a:p>
            <a:pPr indent="0" marL="0">
              <a:buNone/>
            </a:pPr>
            <a:r>
              <a:rPr lang="en-US" sz="1300" b="1" dirty="0">
                <a:solidFill>
                  <a:srgbClr val="8B93A7"/>
                </a:solidFill>
              </a:rPr>
              <a:t>repair</a:t>
            </a:r>
            <a:endParaRPr lang="en-US" sz="1300" dirty="0"/>
          </a:p>
        </p:txBody>
      </p:sp>
      <p:sp>
        <p:nvSpPr>
          <p:cNvPr id="24" name="Text 22"/>
          <p:cNvSpPr txBox="1"/>
          <p:nvPr/>
        </p:nvSpPr>
        <p:spPr>
          <a:xfrm>
            <a:off x="3200400" y="4663440"/>
            <a:ext cx="5852160" cy="475488"/>
          </a:xfrm>
          <a:prstGeom prst="rect">
            <a:avLst/>
          </a:prstGeom>
          <a:noFill/>
          <a:ln/>
        </p:spPr>
        <p:txBody>
          <a:bodyPr wrap="square" lIns="0" tIns="0" rIns="0" bIns="0" rtlCol="0" anchor="ctr"/>
          <a:lstStyle/>
          <a:p>
            <a:pPr indent="0" marL="0">
              <a:buNone/>
            </a:pPr>
            <a:r>
              <a:rPr lang="en-US" sz="1300" dirty="0">
                <a:solidFill>
                  <a:srgbClr val="E6E9EF"/>
                </a:solidFill>
              </a:rPr>
              <a:t>rewrites it, told not to trust the old approach</a:t>
            </a:r>
            <a:endParaRPr lang="en-US" sz="1300" dirty="0"/>
          </a:p>
        </p:txBody>
      </p:sp>
      <p:sp>
        <p:nvSpPr>
          <p:cNvPr id="25" name="row-6"/>
          <p:cNvSpPr/>
          <p:nvPr/>
        </p:nvSpPr>
        <p:spPr>
          <a:xfrm>
            <a:off x="640080" y="5239512"/>
            <a:ext cx="10881360" cy="475488"/>
          </a:xfrm>
          <a:prstGeom prst="roundRect">
            <a:avLst>
              <a:gd name="adj" fmla="val 11538"/>
            </a:avLst>
          </a:prstGeom>
          <a:solidFill>
            <a:srgbClr val="1D212A"/>
          </a:solidFill>
          <a:ln w="12700">
            <a:solidFill>
              <a:srgbClr val="2A2F3A"/>
            </a:solidFill>
            <a:prstDash val="solid"/>
          </a:ln>
        </p:spPr>
      </p:sp>
      <p:sp>
        <p:nvSpPr>
          <p:cNvPr id="26" name="Text 24"/>
          <p:cNvSpPr txBox="1"/>
          <p:nvPr/>
        </p:nvSpPr>
        <p:spPr>
          <a:xfrm>
            <a:off x="841248" y="5239512"/>
            <a:ext cx="2286000" cy="475488"/>
          </a:xfrm>
          <a:prstGeom prst="rect">
            <a:avLst/>
          </a:prstGeom>
          <a:noFill/>
          <a:ln/>
        </p:spPr>
        <p:txBody>
          <a:bodyPr wrap="square" lIns="0" tIns="0" rIns="0" bIns="0" rtlCol="0" anchor="ctr"/>
          <a:lstStyle/>
          <a:p>
            <a:pPr indent="0" marL="0">
              <a:buNone/>
            </a:pPr>
            <a:r>
              <a:rPr lang="en-US" sz="1300" b="1" dirty="0">
                <a:solidFill>
                  <a:srgbClr val="3DDC97"/>
                </a:solidFill>
              </a:rPr>
              <a:t>python_exec</a:t>
            </a:r>
            <a:endParaRPr lang="en-US" sz="1300" dirty="0"/>
          </a:p>
        </p:txBody>
      </p:sp>
      <p:sp>
        <p:nvSpPr>
          <p:cNvPr id="27" name="Text 25"/>
          <p:cNvSpPr txBox="1"/>
          <p:nvPr/>
        </p:nvSpPr>
        <p:spPr>
          <a:xfrm>
            <a:off x="3200400" y="5239512"/>
            <a:ext cx="5852160" cy="475488"/>
          </a:xfrm>
          <a:prstGeom prst="rect">
            <a:avLst/>
          </a:prstGeom>
          <a:noFill/>
          <a:ln/>
        </p:spPr>
        <p:txBody>
          <a:bodyPr wrap="square" lIns="0" tIns="0" rIns="0" bIns="0" rtlCol="0" anchor="ctr"/>
          <a:lstStyle/>
          <a:p>
            <a:pPr indent="0" marL="0">
              <a:buNone/>
            </a:pPr>
            <a:r>
              <a:rPr lang="en-US" sz="1300" dirty="0">
                <a:solidFill>
                  <a:srgbClr val="E6E9EF"/>
                </a:solidFill>
              </a:rPr>
              <a:t>score = 1.00</a:t>
            </a:r>
            <a:endParaRPr lang="en-US" sz="1300" dirty="0"/>
          </a:p>
        </p:txBody>
      </p:sp>
      <p:sp>
        <p:nvSpPr>
          <p:cNvPr id="28" name="Text 26"/>
          <p:cNvSpPr txBox="1"/>
          <p:nvPr/>
        </p:nvSpPr>
        <p:spPr>
          <a:xfrm>
            <a:off x="9235440" y="5239512"/>
            <a:ext cx="2103120" cy="475488"/>
          </a:xfrm>
          <a:prstGeom prst="rect">
            <a:avLst/>
          </a:prstGeom>
          <a:noFill/>
          <a:ln/>
        </p:spPr>
        <p:txBody>
          <a:bodyPr wrap="square" lIns="0" tIns="0" rIns="0" bIns="0" rtlCol="0" anchor="ctr"/>
          <a:lstStyle/>
          <a:p>
            <a:pPr algn="r" indent="0" marL="0">
              <a:buNone/>
            </a:pPr>
            <a:r>
              <a:rPr lang="en-US" sz="1100" b="1" dirty="0">
                <a:solidFill>
                  <a:srgbClr val="3DDC97"/>
                </a:solidFill>
              </a:rPr>
              <a:t>ACCEPTED</a:t>
            </a:r>
            <a:endParaRPr lang="en-US" sz="1100" dirty="0"/>
          </a:p>
        </p:txBody>
      </p:sp>
      <p:sp>
        <p:nvSpPr>
          <p:cNvPr id="29" name="Text 27"/>
          <p:cNvSpPr txBox="1"/>
          <p:nvPr/>
        </p:nvSpPr>
        <p:spPr>
          <a:xfrm>
            <a:off x="640080" y="5897880"/>
            <a:ext cx="10881360" cy="457200"/>
          </a:xfrm>
          <a:prstGeom prst="rect">
            <a:avLst/>
          </a:prstGeom>
          <a:noFill/>
          <a:ln/>
        </p:spPr>
        <p:txBody>
          <a:bodyPr wrap="square" lIns="0" tIns="0" rIns="0" bIns="0" rtlCol="0" anchor="ctr"/>
          <a:lstStyle/>
          <a:p>
            <a:pPr indent="0" marL="0">
              <a:buNone/>
            </a:pPr>
            <a:r>
              <a:rPr lang="en-US" sz="1400" i="1" dirty="0">
                <a:solidFill>
                  <a:srgbClr val="3DDC97"/>
                </a:solidFill>
              </a:rPr>
              <a:t>The executed tests said FAIL. The LLM critic said PASS. The LLM was wrong — and we log that gap, because measuring it is research question 3.</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Gautam Lasgotra · 23BCS032</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It can never run forever</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3DDC97"/>
                </a:solidFill>
              </a:rPr>
              <a:t>BUDGET GOVERNOR</a:t>
            </a:r>
            <a:endParaRPr lang="en-US" sz="1100" dirty="0"/>
          </a:p>
        </p:txBody>
      </p:sp>
      <p:sp>
        <p:nvSpPr>
          <p:cNvPr id="5" name="stop-0"/>
          <p:cNvSpPr/>
          <p:nvPr/>
        </p:nvSpPr>
        <p:spPr>
          <a:xfrm>
            <a:off x="640080" y="1828800"/>
            <a:ext cx="2542032" cy="914400"/>
          </a:xfrm>
          <a:prstGeom prst="roundRect">
            <a:avLst>
              <a:gd name="adj" fmla="val 6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22960" y="1956816"/>
            <a:ext cx="2194560" cy="301752"/>
          </a:xfrm>
          <a:prstGeom prst="rect">
            <a:avLst/>
          </a:prstGeom>
          <a:noFill/>
          <a:ln/>
        </p:spPr>
        <p:txBody>
          <a:bodyPr wrap="square" lIns="0" tIns="0" rIns="0" bIns="0" rtlCol="0" anchor="ctr"/>
          <a:lstStyle/>
          <a:p>
            <a:pPr indent="0" marL="0">
              <a:buNone/>
            </a:pPr>
            <a:r>
              <a:rPr lang="en-US" sz="1300" b="1" dirty="0">
                <a:solidFill>
                  <a:srgbClr val="3DDC97"/>
                </a:solidFill>
              </a:rPr>
              <a:t>accepted</a:t>
            </a:r>
            <a:endParaRPr lang="en-US" sz="1300" dirty="0"/>
          </a:p>
        </p:txBody>
      </p:sp>
      <p:sp>
        <p:nvSpPr>
          <p:cNvPr id="7" name="Text 5"/>
          <p:cNvSpPr txBox="1"/>
          <p:nvPr/>
        </p:nvSpPr>
        <p:spPr>
          <a:xfrm>
            <a:off x="822960" y="2286000"/>
            <a:ext cx="2194560" cy="301752"/>
          </a:xfrm>
          <a:prstGeom prst="rect">
            <a:avLst/>
          </a:prstGeom>
          <a:noFill/>
          <a:ln/>
        </p:spPr>
        <p:txBody>
          <a:bodyPr wrap="square" lIns="0" tIns="0" rIns="0" bIns="0" rtlCol="0" anchor="ctr"/>
          <a:lstStyle/>
          <a:p>
            <a:pPr indent="0" marL="0">
              <a:buNone/>
            </a:pPr>
            <a:r>
              <a:rPr lang="en-US" sz="1200" dirty="0">
                <a:solidFill>
                  <a:srgbClr val="8B93A7"/>
                </a:solidFill>
              </a:rPr>
              <a:t>tests passed</a:t>
            </a:r>
            <a:endParaRPr lang="en-US" sz="1200" dirty="0"/>
          </a:p>
        </p:txBody>
      </p:sp>
      <p:sp>
        <p:nvSpPr>
          <p:cNvPr id="8" name="stop-1"/>
          <p:cNvSpPr/>
          <p:nvPr/>
        </p:nvSpPr>
        <p:spPr>
          <a:xfrm>
            <a:off x="3429000" y="1828800"/>
            <a:ext cx="2542032" cy="914400"/>
          </a:xfrm>
          <a:prstGeom prst="roundRect">
            <a:avLst>
              <a:gd name="adj" fmla="val 6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3611880" y="1956816"/>
            <a:ext cx="2194560" cy="301752"/>
          </a:xfrm>
          <a:prstGeom prst="rect">
            <a:avLst/>
          </a:prstGeom>
          <a:noFill/>
          <a:ln/>
        </p:spPr>
        <p:txBody>
          <a:bodyPr wrap="square" lIns="0" tIns="0" rIns="0" bIns="0" rtlCol="0" anchor="ctr"/>
          <a:lstStyle/>
          <a:p>
            <a:pPr indent="0" marL="0">
              <a:buNone/>
            </a:pPr>
            <a:r>
              <a:rPr lang="en-US" sz="1300" b="1" dirty="0">
                <a:solidFill>
                  <a:srgbClr val="F0B429"/>
                </a:solidFill>
              </a:rPr>
              <a:t>max_iterations</a:t>
            </a:r>
            <a:endParaRPr lang="en-US" sz="1300" dirty="0"/>
          </a:p>
        </p:txBody>
      </p:sp>
      <p:sp>
        <p:nvSpPr>
          <p:cNvPr id="10" name="Text 8"/>
          <p:cNvSpPr txBox="1"/>
          <p:nvPr/>
        </p:nvSpPr>
        <p:spPr>
          <a:xfrm>
            <a:off x="3611880" y="2286000"/>
            <a:ext cx="2194560" cy="301752"/>
          </a:xfrm>
          <a:prstGeom prst="rect">
            <a:avLst/>
          </a:prstGeom>
          <a:noFill/>
          <a:ln/>
        </p:spPr>
        <p:txBody>
          <a:bodyPr wrap="square" lIns="0" tIns="0" rIns="0" bIns="0" rtlCol="0" anchor="ctr"/>
          <a:lstStyle/>
          <a:p>
            <a:pPr indent="0" marL="0">
              <a:buNone/>
            </a:pPr>
            <a:r>
              <a:rPr lang="en-US" sz="1200" dirty="0">
                <a:solidFill>
                  <a:srgbClr val="8B93A7"/>
                </a:solidFill>
              </a:rPr>
              <a:t>5 rounds</a:t>
            </a:r>
            <a:endParaRPr lang="en-US" sz="1200" dirty="0"/>
          </a:p>
        </p:txBody>
      </p:sp>
      <p:sp>
        <p:nvSpPr>
          <p:cNvPr id="11" name="stop-2"/>
          <p:cNvSpPr/>
          <p:nvPr/>
        </p:nvSpPr>
        <p:spPr>
          <a:xfrm>
            <a:off x="6217920" y="1828800"/>
            <a:ext cx="2542032" cy="914400"/>
          </a:xfrm>
          <a:prstGeom prst="roundRect">
            <a:avLst>
              <a:gd name="adj" fmla="val 6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6400800" y="1956816"/>
            <a:ext cx="2194560" cy="301752"/>
          </a:xfrm>
          <a:prstGeom prst="rect">
            <a:avLst/>
          </a:prstGeom>
          <a:noFill/>
          <a:ln/>
        </p:spPr>
        <p:txBody>
          <a:bodyPr wrap="square" lIns="0" tIns="0" rIns="0" bIns="0" rtlCol="0" anchor="ctr"/>
          <a:lstStyle/>
          <a:p>
            <a:pPr indent="0" marL="0">
              <a:buNone/>
            </a:pPr>
            <a:r>
              <a:rPr lang="en-US" sz="1300" b="1" dirty="0">
                <a:solidFill>
                  <a:srgbClr val="F0B429"/>
                </a:solidFill>
              </a:rPr>
              <a:t>max_llm_calls</a:t>
            </a:r>
            <a:endParaRPr lang="en-US" sz="1300" dirty="0"/>
          </a:p>
        </p:txBody>
      </p:sp>
      <p:sp>
        <p:nvSpPr>
          <p:cNvPr id="13" name="Text 11"/>
          <p:cNvSpPr txBox="1"/>
          <p:nvPr/>
        </p:nvSpPr>
        <p:spPr>
          <a:xfrm>
            <a:off x="6400800" y="2286000"/>
            <a:ext cx="2194560" cy="301752"/>
          </a:xfrm>
          <a:prstGeom prst="rect">
            <a:avLst/>
          </a:prstGeom>
          <a:noFill/>
          <a:ln/>
        </p:spPr>
        <p:txBody>
          <a:bodyPr wrap="square" lIns="0" tIns="0" rIns="0" bIns="0" rtlCol="0" anchor="ctr"/>
          <a:lstStyle/>
          <a:p>
            <a:pPr indent="0" marL="0">
              <a:buNone/>
            </a:pPr>
            <a:r>
              <a:rPr lang="en-US" sz="1200" dirty="0">
                <a:solidFill>
                  <a:srgbClr val="8B93A7"/>
                </a:solidFill>
              </a:rPr>
              <a:t>20 calls</a:t>
            </a:r>
            <a:endParaRPr lang="en-US" sz="1200" dirty="0"/>
          </a:p>
        </p:txBody>
      </p:sp>
      <p:sp>
        <p:nvSpPr>
          <p:cNvPr id="14" name="stop-3"/>
          <p:cNvSpPr/>
          <p:nvPr/>
        </p:nvSpPr>
        <p:spPr>
          <a:xfrm>
            <a:off x="9006840" y="1828800"/>
            <a:ext cx="2542032" cy="914400"/>
          </a:xfrm>
          <a:prstGeom prst="roundRect">
            <a:avLst>
              <a:gd name="adj" fmla="val 6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9189720" y="1956816"/>
            <a:ext cx="2194560" cy="301752"/>
          </a:xfrm>
          <a:prstGeom prst="rect">
            <a:avLst/>
          </a:prstGeom>
          <a:noFill/>
          <a:ln/>
        </p:spPr>
        <p:txBody>
          <a:bodyPr wrap="square" lIns="0" tIns="0" rIns="0" bIns="0" rtlCol="0" anchor="ctr"/>
          <a:lstStyle/>
          <a:p>
            <a:pPr indent="0" marL="0">
              <a:buNone/>
            </a:pPr>
            <a:r>
              <a:rPr lang="en-US" sz="1300" b="1" dirty="0">
                <a:solidFill>
                  <a:srgbClr val="F0B429"/>
                </a:solidFill>
              </a:rPr>
              <a:t>max_tokens</a:t>
            </a:r>
            <a:endParaRPr lang="en-US" sz="1300" dirty="0"/>
          </a:p>
        </p:txBody>
      </p:sp>
      <p:sp>
        <p:nvSpPr>
          <p:cNvPr id="16" name="Text 14"/>
          <p:cNvSpPr txBox="1"/>
          <p:nvPr/>
        </p:nvSpPr>
        <p:spPr>
          <a:xfrm>
            <a:off x="9189720" y="2286000"/>
            <a:ext cx="2194560" cy="301752"/>
          </a:xfrm>
          <a:prstGeom prst="rect">
            <a:avLst/>
          </a:prstGeom>
          <a:noFill/>
          <a:ln/>
        </p:spPr>
        <p:txBody>
          <a:bodyPr wrap="square" lIns="0" tIns="0" rIns="0" bIns="0" rtlCol="0" anchor="ctr"/>
          <a:lstStyle/>
          <a:p>
            <a:pPr indent="0" marL="0">
              <a:buNone/>
            </a:pPr>
            <a:r>
              <a:rPr lang="en-US" sz="1200" dirty="0">
                <a:solidFill>
                  <a:srgbClr val="8B93A7"/>
                </a:solidFill>
              </a:rPr>
              <a:t>60,000</a:t>
            </a:r>
            <a:endParaRPr lang="en-US" sz="1200" dirty="0"/>
          </a:p>
        </p:txBody>
      </p:sp>
      <p:sp>
        <p:nvSpPr>
          <p:cNvPr id="17" name="stop-4"/>
          <p:cNvSpPr/>
          <p:nvPr/>
        </p:nvSpPr>
        <p:spPr>
          <a:xfrm>
            <a:off x="640080" y="2971800"/>
            <a:ext cx="2542032" cy="914400"/>
          </a:xfrm>
          <a:prstGeom prst="roundRect">
            <a:avLst>
              <a:gd name="adj" fmla="val 6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822960" y="3099816"/>
            <a:ext cx="2194560" cy="301752"/>
          </a:xfrm>
          <a:prstGeom prst="rect">
            <a:avLst/>
          </a:prstGeom>
          <a:noFill/>
          <a:ln/>
        </p:spPr>
        <p:txBody>
          <a:bodyPr wrap="square" lIns="0" tIns="0" rIns="0" bIns="0" rtlCol="0" anchor="ctr"/>
          <a:lstStyle/>
          <a:p>
            <a:pPr indent="0" marL="0">
              <a:buNone/>
            </a:pPr>
            <a:r>
              <a:rPr lang="en-US" sz="1300" b="1" dirty="0">
                <a:solidFill>
                  <a:srgbClr val="F0B429"/>
                </a:solidFill>
              </a:rPr>
              <a:t>wall_clock</a:t>
            </a:r>
            <a:endParaRPr lang="en-US" sz="1300" dirty="0"/>
          </a:p>
        </p:txBody>
      </p:sp>
      <p:sp>
        <p:nvSpPr>
          <p:cNvPr id="19" name="Text 17"/>
          <p:cNvSpPr txBox="1"/>
          <p:nvPr/>
        </p:nvSpPr>
        <p:spPr>
          <a:xfrm>
            <a:off x="822960" y="3429000"/>
            <a:ext cx="2194560" cy="301752"/>
          </a:xfrm>
          <a:prstGeom prst="rect">
            <a:avLst/>
          </a:prstGeom>
          <a:noFill/>
          <a:ln/>
        </p:spPr>
        <p:txBody>
          <a:bodyPr wrap="square" lIns="0" tIns="0" rIns="0" bIns="0" rtlCol="0" anchor="ctr"/>
          <a:lstStyle/>
          <a:p>
            <a:pPr indent="0" marL="0">
              <a:buNone/>
            </a:pPr>
            <a:r>
              <a:rPr lang="en-US" sz="1200" dirty="0">
                <a:solidFill>
                  <a:srgbClr val="8B93A7"/>
                </a:solidFill>
              </a:rPr>
              <a:t>180 seconds</a:t>
            </a:r>
            <a:endParaRPr lang="en-US" sz="1200" dirty="0"/>
          </a:p>
        </p:txBody>
      </p:sp>
      <p:sp>
        <p:nvSpPr>
          <p:cNvPr id="20" name="stop-5"/>
          <p:cNvSpPr/>
          <p:nvPr/>
        </p:nvSpPr>
        <p:spPr>
          <a:xfrm>
            <a:off x="3429000" y="2971800"/>
            <a:ext cx="2542032" cy="914400"/>
          </a:xfrm>
          <a:prstGeom prst="roundRect">
            <a:avLst>
              <a:gd name="adj" fmla="val 6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21" name="Text 19"/>
          <p:cNvSpPr txBox="1"/>
          <p:nvPr/>
        </p:nvSpPr>
        <p:spPr>
          <a:xfrm>
            <a:off x="3611880" y="3099816"/>
            <a:ext cx="2194560" cy="301752"/>
          </a:xfrm>
          <a:prstGeom prst="rect">
            <a:avLst/>
          </a:prstGeom>
          <a:noFill/>
          <a:ln/>
        </p:spPr>
        <p:txBody>
          <a:bodyPr wrap="square" lIns="0" tIns="0" rIns="0" bIns="0" rtlCol="0" anchor="ctr"/>
          <a:lstStyle/>
          <a:p>
            <a:pPr indent="0" marL="0">
              <a:buNone/>
            </a:pPr>
            <a:r>
              <a:rPr lang="en-US" sz="1300" b="1" dirty="0">
                <a:solidFill>
                  <a:srgbClr val="F0B429"/>
                </a:solidFill>
              </a:rPr>
              <a:t>no_improvement</a:t>
            </a:r>
            <a:endParaRPr lang="en-US" sz="1300" dirty="0"/>
          </a:p>
        </p:txBody>
      </p:sp>
      <p:sp>
        <p:nvSpPr>
          <p:cNvPr id="22" name="Text 20"/>
          <p:cNvSpPr txBox="1"/>
          <p:nvPr/>
        </p:nvSpPr>
        <p:spPr>
          <a:xfrm>
            <a:off x="3611880" y="3429000"/>
            <a:ext cx="2194560" cy="301752"/>
          </a:xfrm>
          <a:prstGeom prst="rect">
            <a:avLst/>
          </a:prstGeom>
          <a:noFill/>
          <a:ln/>
        </p:spPr>
        <p:txBody>
          <a:bodyPr wrap="square" lIns="0" tIns="0" rIns="0" bIns="0" rtlCol="0" anchor="ctr"/>
          <a:lstStyle/>
          <a:p>
            <a:pPr indent="0" marL="0">
              <a:buNone/>
            </a:pPr>
            <a:r>
              <a:rPr lang="en-US" sz="1200" dirty="0">
                <a:solidFill>
                  <a:srgbClr val="8B93A7"/>
                </a:solidFill>
              </a:rPr>
              <a:t>2 flat rounds</a:t>
            </a:r>
            <a:endParaRPr lang="en-US" sz="1200" dirty="0"/>
          </a:p>
        </p:txBody>
      </p:sp>
      <p:sp>
        <p:nvSpPr>
          <p:cNvPr id="23" name="stop-6"/>
          <p:cNvSpPr/>
          <p:nvPr/>
        </p:nvSpPr>
        <p:spPr>
          <a:xfrm>
            <a:off x="6217920" y="2971800"/>
            <a:ext cx="2542032" cy="914400"/>
          </a:xfrm>
          <a:prstGeom prst="roundRect">
            <a:avLst>
              <a:gd name="adj" fmla="val 6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24" name="Text 22"/>
          <p:cNvSpPr txBox="1"/>
          <p:nvPr/>
        </p:nvSpPr>
        <p:spPr>
          <a:xfrm>
            <a:off x="6400800" y="3099816"/>
            <a:ext cx="2194560" cy="301752"/>
          </a:xfrm>
          <a:prstGeom prst="rect">
            <a:avLst/>
          </a:prstGeom>
          <a:noFill/>
          <a:ln/>
        </p:spPr>
        <p:txBody>
          <a:bodyPr wrap="square" lIns="0" tIns="0" rIns="0" bIns="0" rtlCol="0" anchor="ctr"/>
          <a:lstStyle/>
          <a:p>
            <a:pPr indent="0" marL="0">
              <a:buNone/>
            </a:pPr>
            <a:r>
              <a:rPr lang="en-US" sz="1300" b="1" dirty="0">
                <a:solidFill>
                  <a:srgbClr val="F0B429"/>
                </a:solidFill>
              </a:rPr>
              <a:t>cycle_detected</a:t>
            </a:r>
            <a:endParaRPr lang="en-US" sz="1300" dirty="0"/>
          </a:p>
        </p:txBody>
      </p:sp>
      <p:sp>
        <p:nvSpPr>
          <p:cNvPr id="25" name="Text 23"/>
          <p:cNvSpPr txBox="1"/>
          <p:nvPr/>
        </p:nvSpPr>
        <p:spPr>
          <a:xfrm>
            <a:off x="6400800" y="3429000"/>
            <a:ext cx="2194560" cy="301752"/>
          </a:xfrm>
          <a:prstGeom prst="rect">
            <a:avLst/>
          </a:prstGeom>
          <a:noFill/>
          <a:ln/>
        </p:spPr>
        <p:txBody>
          <a:bodyPr wrap="square" lIns="0" tIns="0" rIns="0" bIns="0" rtlCol="0" anchor="ctr"/>
          <a:lstStyle/>
          <a:p>
            <a:pPr indent="0" marL="0">
              <a:buNone/>
            </a:pPr>
            <a:r>
              <a:rPr lang="en-US" sz="1200" dirty="0">
                <a:solidFill>
                  <a:srgbClr val="8B93A7"/>
                </a:solidFill>
              </a:rPr>
              <a:t>identical output</a:t>
            </a:r>
            <a:endParaRPr lang="en-US" sz="1200" dirty="0"/>
          </a:p>
        </p:txBody>
      </p:sp>
      <p:sp>
        <p:nvSpPr>
          <p:cNvPr id="26" name="mast"/>
          <p:cNvSpPr/>
          <p:nvPr/>
        </p:nvSpPr>
        <p:spPr>
          <a:xfrm>
            <a:off x="9006840" y="2971800"/>
            <a:ext cx="2514600" cy="914400"/>
          </a:xfrm>
          <a:prstGeom prst="roundRect">
            <a:avLst>
              <a:gd name="adj" fmla="val 6000"/>
            </a:avLst>
          </a:prstGeom>
          <a:solidFill>
            <a:srgbClr val="0F1115"/>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235440" y="3063240"/>
            <a:ext cx="2103120" cy="411480"/>
          </a:xfrm>
          <a:prstGeom prst="rect">
            <a:avLst/>
          </a:prstGeom>
          <a:noFill/>
          <a:ln/>
        </p:spPr>
        <p:txBody>
          <a:bodyPr wrap="square" lIns="0" tIns="0" rIns="0" bIns="0" rtlCol="0" anchor="ctr"/>
          <a:lstStyle/>
          <a:p>
            <a:pPr indent="0" marL="0">
              <a:buNone/>
            </a:pPr>
            <a:r>
              <a:rPr lang="en-US" sz="2400" b="1" dirty="0">
                <a:solidFill>
                  <a:srgbClr val="FF6B6B"/>
                </a:solidFill>
              </a:rPr>
              <a:t>17.1%</a:t>
            </a:r>
            <a:endParaRPr lang="en-US" sz="2400" dirty="0"/>
          </a:p>
        </p:txBody>
      </p:sp>
      <p:sp>
        <p:nvSpPr>
          <p:cNvPr id="28" name="Text 26"/>
          <p:cNvSpPr txBox="1"/>
          <p:nvPr/>
        </p:nvSpPr>
        <p:spPr>
          <a:xfrm>
            <a:off x="9235440" y="3456432"/>
            <a:ext cx="2103120" cy="384048"/>
          </a:xfrm>
          <a:prstGeom prst="rect">
            <a:avLst/>
          </a:prstGeom>
          <a:noFill/>
          <a:ln/>
        </p:spPr>
        <p:txBody>
          <a:bodyPr wrap="square" lIns="0" tIns="0" rIns="0" bIns="0" rtlCol="0" anchor="ctr"/>
          <a:lstStyle/>
          <a:p>
            <a:pPr indent="0" marL="0">
              <a:buNone/>
            </a:pPr>
            <a:r>
              <a:rPr lang="en-US" sz="950" dirty="0">
                <a:solidFill>
                  <a:srgbClr val="8B93A7"/>
                </a:solidFill>
              </a:rPr>
              <a:t>of multi-agent failures are step repetition  ·  MAST, NeurIPS 2025</a:t>
            </a:r>
            <a:endParaRPr lang="en-US" sz="950" dirty="0"/>
          </a:p>
        </p:txBody>
      </p:sp>
      <p:sp>
        <p:nvSpPr>
          <p:cNvPr id="29" name="Text 27"/>
          <p:cNvSpPr txBox="1"/>
          <p:nvPr/>
        </p:nvSpPr>
        <p:spPr>
          <a:xfrm>
            <a:off x="640080" y="4343400"/>
            <a:ext cx="10881360" cy="365760"/>
          </a:xfrm>
          <a:prstGeom prst="rect">
            <a:avLst/>
          </a:prstGeom>
          <a:noFill/>
          <a:ln/>
        </p:spPr>
        <p:txBody>
          <a:bodyPr wrap="square" lIns="0" tIns="0" rIns="0" bIns="0" rtlCol="0" anchor="ctr"/>
          <a:lstStyle/>
          <a:p>
            <a:pPr indent="0" marL="0">
              <a:buNone/>
            </a:pPr>
            <a:r>
              <a:rPr lang="en-US" sz="1400" dirty="0">
                <a:solidFill>
                  <a:srgbClr val="E6E9EF"/>
                </a:solidFill>
              </a:rPr>
              <a:t>Every stop reason is logged as an enum, so a run that stops can always be explained.</a:t>
            </a:r>
            <a:endParaRPr lang="en-US" sz="1400" dirty="0"/>
          </a:p>
        </p:txBody>
      </p:sp>
      <p:sp>
        <p:nvSpPr>
          <p:cNvPr id="30" name="Text 28"/>
          <p:cNvSpPr txBox="1"/>
          <p:nvPr/>
        </p:nvSpPr>
        <p:spPr>
          <a:xfrm>
            <a:off x="640080" y="4846320"/>
            <a:ext cx="10881360" cy="914400"/>
          </a:xfrm>
          <a:prstGeom prst="rect">
            <a:avLst/>
          </a:prstGeom>
          <a:noFill/>
          <a:ln/>
        </p:spPr>
        <p:txBody>
          <a:bodyPr wrap="square" lIns="0" tIns="0" rIns="0" bIns="0" rtlCol="0" anchor="ctr"/>
          <a:lstStyle/>
          <a:p>
            <a:pPr indent="0" marL="0">
              <a:buNone/>
            </a:pPr>
            <a:r>
              <a:rPr lang="en-US" sz="1300" dirty="0">
                <a:solidFill>
                  <a:srgbClr val="8B93A7"/>
                </a:solidFill>
              </a:rPr>
              <a:t>Generated code runs in a separate process with no inherited environment, so it cannot read our API keys — in a temp directory, under a timeout. On the public site a live run needs a token: a public URL that executes model-written Python is a remote shell.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Gautam Lasgotra · 23BCS032</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Built, deployed and running</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3DDC97"/>
                </a:solidFill>
              </a:rPr>
              <a:t>LIVE DEMONSTRATION</a:t>
            </a:r>
            <a:endParaRPr lang="en-US" sz="1100" dirty="0"/>
          </a:p>
        </p:txBody>
      </p:sp>
      <p:sp>
        <p:nvSpPr>
          <p:cNvPr id="5" name="url"/>
          <p:cNvSpPr/>
          <p:nvPr/>
        </p:nvSpPr>
        <p:spPr>
          <a:xfrm>
            <a:off x="640080" y="1783080"/>
            <a:ext cx="10881360" cy="1051560"/>
          </a:xfrm>
          <a:prstGeom prst="roundRect">
            <a:avLst>
              <a:gd name="adj" fmla="val 5217"/>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960120" y="1938528"/>
            <a:ext cx="6858000" cy="457200"/>
          </a:xfrm>
          <a:prstGeom prst="rect">
            <a:avLst/>
          </a:prstGeom>
          <a:noFill/>
          <a:ln/>
        </p:spPr>
        <p:txBody>
          <a:bodyPr wrap="square" lIns="0" tIns="0" rIns="0" bIns="0" rtlCol="0" anchor="ctr"/>
          <a:lstStyle/>
          <a:p>
            <a:pPr indent="0" marL="0">
              <a:buNone/>
            </a:pPr>
            <a:r>
              <a:rPr lang="en-US" sz="2400" b="1" dirty="0">
                <a:solidFill>
                  <a:srgbClr val="3DDC97"/>
                </a:solidFill>
              </a:rPr>
              <a:t>arbiter-gules-two.vercel.app</a:t>
            </a:r>
            <a:endParaRPr lang="en-US" sz="2400" dirty="0"/>
          </a:p>
        </p:txBody>
      </p:sp>
      <p:sp>
        <p:nvSpPr>
          <p:cNvPr id="7" name="Text 5"/>
          <p:cNvSpPr txBox="1"/>
          <p:nvPr/>
        </p:nvSpPr>
        <p:spPr>
          <a:xfrm>
            <a:off x="960120" y="2395728"/>
            <a:ext cx="6858000" cy="320040"/>
          </a:xfrm>
          <a:prstGeom prst="rect">
            <a:avLst/>
          </a:prstGeom>
          <a:noFill/>
          <a:ln/>
        </p:spPr>
        <p:txBody>
          <a:bodyPr wrap="square" lIns="0" tIns="0" rIns="0" bIns="0" rtlCol="0" anchor="ctr"/>
          <a:lstStyle/>
          <a:p>
            <a:pPr indent="0" marL="0">
              <a:buNone/>
            </a:pPr>
            <a:r>
              <a:rPr lang="en-US" sz="1300" dirty="0">
                <a:solidFill>
                  <a:srgbClr val="8B93A7"/>
                </a:solidFill>
              </a:rPr>
              <a:t>Type any task · watch the agents work · every number metered live</a:t>
            </a:r>
            <a:endParaRPr lang="en-US" sz="1300" dirty="0"/>
          </a:p>
        </p:txBody>
      </p:sp>
      <p:sp>
        <p:nvSpPr>
          <p:cNvPr id="8" name="Text 6"/>
          <p:cNvSpPr txBox="1"/>
          <p:nvPr/>
        </p:nvSpPr>
        <p:spPr>
          <a:xfrm>
            <a:off x="640080" y="3108960"/>
            <a:ext cx="2377440" cy="713232"/>
          </a:xfrm>
          <a:prstGeom prst="rect">
            <a:avLst/>
          </a:prstGeom>
          <a:noFill/>
          <a:ln/>
        </p:spPr>
        <p:txBody>
          <a:bodyPr wrap="square" lIns="0" tIns="0" rIns="0" bIns="0" rtlCol="0" anchor="ctr"/>
          <a:lstStyle/>
          <a:p>
            <a:pPr algn="l" indent="0" marL="0">
              <a:buNone/>
            </a:pPr>
            <a:r>
              <a:rPr lang="en-US" sz="4000" b="1" dirty="0">
                <a:solidFill>
                  <a:srgbClr val="3DDC97"/>
                </a:solidFill>
              </a:rPr>
              <a:t>49</a:t>
            </a:r>
            <a:endParaRPr lang="en-US" sz="4000" dirty="0"/>
          </a:p>
        </p:txBody>
      </p:sp>
      <p:sp>
        <p:nvSpPr>
          <p:cNvPr id="9" name="Text 7"/>
          <p:cNvSpPr txBox="1"/>
          <p:nvPr/>
        </p:nvSpPr>
        <p:spPr>
          <a:xfrm>
            <a:off x="640080" y="3803904"/>
            <a:ext cx="2377440" cy="457200"/>
          </a:xfrm>
          <a:prstGeom prst="rect">
            <a:avLst/>
          </a:prstGeom>
          <a:noFill/>
          <a:ln/>
        </p:spPr>
        <p:txBody>
          <a:bodyPr wrap="square" lIns="0" tIns="0" rIns="0" bIns="0" rtlCol="0" anchor="ctr"/>
          <a:lstStyle/>
          <a:p>
            <a:pPr algn="l" indent="0" marL="0">
              <a:buNone/>
            </a:pPr>
            <a:r>
              <a:rPr lang="en-US" sz="1200" dirty="0">
                <a:solidFill>
                  <a:srgbClr val="8B93A7"/>
                </a:solidFill>
              </a:rPr>
              <a:t>automated tests, no API key needed</a:t>
            </a:r>
            <a:endParaRPr lang="en-US" sz="1200" dirty="0"/>
          </a:p>
        </p:txBody>
      </p:sp>
      <p:sp>
        <p:nvSpPr>
          <p:cNvPr id="10" name="Text 8"/>
          <p:cNvSpPr txBox="1"/>
          <p:nvPr/>
        </p:nvSpPr>
        <p:spPr>
          <a:xfrm>
            <a:off x="3383280" y="3108960"/>
            <a:ext cx="2377440" cy="713232"/>
          </a:xfrm>
          <a:prstGeom prst="rect">
            <a:avLst/>
          </a:prstGeom>
          <a:noFill/>
          <a:ln/>
        </p:spPr>
        <p:txBody>
          <a:bodyPr wrap="square" lIns="0" tIns="0" rIns="0" bIns="0" rtlCol="0" anchor="ctr"/>
          <a:lstStyle/>
          <a:p>
            <a:pPr algn="l" indent="0" marL="0">
              <a:buNone/>
            </a:pPr>
            <a:r>
              <a:rPr lang="en-US" sz="4000" b="1" dirty="0">
                <a:solidFill>
                  <a:srgbClr val="5B9DFF"/>
                </a:solidFill>
              </a:rPr>
              <a:t>5</a:t>
            </a:r>
            <a:endParaRPr lang="en-US" sz="4000" dirty="0"/>
          </a:p>
        </p:txBody>
      </p:sp>
      <p:sp>
        <p:nvSpPr>
          <p:cNvPr id="11" name="Text 9"/>
          <p:cNvSpPr txBox="1"/>
          <p:nvPr/>
        </p:nvSpPr>
        <p:spPr>
          <a:xfrm>
            <a:off x="3383280" y="3803904"/>
            <a:ext cx="2377440" cy="457200"/>
          </a:xfrm>
          <a:prstGeom prst="rect">
            <a:avLst/>
          </a:prstGeom>
          <a:noFill/>
          <a:ln/>
        </p:spPr>
        <p:txBody>
          <a:bodyPr wrap="square" lIns="0" tIns="0" rIns="0" bIns="0" rtlCol="0" anchor="ctr"/>
          <a:lstStyle/>
          <a:p>
            <a:pPr algn="l" indent="0" marL="0">
              <a:buNone/>
            </a:pPr>
            <a:r>
              <a:rPr lang="en-US" sz="1200" dirty="0">
                <a:solidFill>
                  <a:srgbClr val="8B93A7"/>
                </a:solidFill>
              </a:rPr>
              <a:t>conditions, one engine</a:t>
            </a:r>
            <a:endParaRPr lang="en-US" sz="1200" dirty="0"/>
          </a:p>
        </p:txBody>
      </p:sp>
      <p:sp>
        <p:nvSpPr>
          <p:cNvPr id="12" name="Text 10"/>
          <p:cNvSpPr txBox="1"/>
          <p:nvPr/>
        </p:nvSpPr>
        <p:spPr>
          <a:xfrm>
            <a:off x="6126480" y="3108960"/>
            <a:ext cx="2377440" cy="713232"/>
          </a:xfrm>
          <a:prstGeom prst="rect">
            <a:avLst/>
          </a:prstGeom>
          <a:noFill/>
          <a:ln/>
        </p:spPr>
        <p:txBody>
          <a:bodyPr wrap="square" lIns="0" tIns="0" rIns="0" bIns="0" rtlCol="0" anchor="ctr"/>
          <a:lstStyle/>
          <a:p>
            <a:pPr algn="l" indent="0" marL="0">
              <a:buNone/>
            </a:pPr>
            <a:r>
              <a:rPr lang="en-US" sz="4000" b="1" dirty="0">
                <a:solidFill>
                  <a:srgbClr val="5B9DFF"/>
                </a:solidFill>
              </a:rPr>
              <a:t>25</a:t>
            </a:r>
            <a:endParaRPr lang="en-US" sz="4000" dirty="0"/>
          </a:p>
        </p:txBody>
      </p:sp>
      <p:sp>
        <p:nvSpPr>
          <p:cNvPr id="13" name="Text 11"/>
          <p:cNvSpPr txBox="1"/>
          <p:nvPr/>
        </p:nvSpPr>
        <p:spPr>
          <a:xfrm>
            <a:off x="6126480" y="3803904"/>
            <a:ext cx="2377440" cy="457200"/>
          </a:xfrm>
          <a:prstGeom prst="rect">
            <a:avLst/>
          </a:prstGeom>
          <a:noFill/>
          <a:ln/>
        </p:spPr>
        <p:txBody>
          <a:bodyPr wrap="square" lIns="0" tIns="0" rIns="0" bIns="0" rtlCol="0" anchor="ctr"/>
          <a:lstStyle/>
          <a:p>
            <a:pPr algn="l" indent="0" marL="0">
              <a:buNone/>
            </a:pPr>
            <a:r>
              <a:rPr lang="en-US" sz="1200" dirty="0">
                <a:solidFill>
                  <a:srgbClr val="8B93A7"/>
                </a:solidFill>
              </a:rPr>
              <a:t>measured runs so far</a:t>
            </a:r>
            <a:endParaRPr lang="en-US" sz="1200" dirty="0"/>
          </a:p>
        </p:txBody>
      </p:sp>
      <p:sp>
        <p:nvSpPr>
          <p:cNvPr id="14" name="Text 12"/>
          <p:cNvSpPr txBox="1"/>
          <p:nvPr/>
        </p:nvSpPr>
        <p:spPr>
          <a:xfrm>
            <a:off x="8869680" y="3108960"/>
            <a:ext cx="2651760" cy="713232"/>
          </a:xfrm>
          <a:prstGeom prst="rect">
            <a:avLst/>
          </a:prstGeom>
          <a:noFill/>
          <a:ln/>
        </p:spPr>
        <p:txBody>
          <a:bodyPr wrap="square" lIns="0" tIns="0" rIns="0" bIns="0" rtlCol="0" anchor="ctr"/>
          <a:lstStyle/>
          <a:p>
            <a:pPr algn="l" indent="0" marL="0">
              <a:buNone/>
            </a:pPr>
            <a:r>
              <a:rPr lang="en-US" sz="4000" b="1" dirty="0">
                <a:solidFill>
                  <a:srgbClr val="F0B429"/>
                </a:solidFill>
              </a:rPr>
              <a:t>3</a:t>
            </a:r>
            <a:endParaRPr lang="en-US" sz="4000" dirty="0"/>
          </a:p>
        </p:txBody>
      </p:sp>
      <p:sp>
        <p:nvSpPr>
          <p:cNvPr id="15" name="Text 13"/>
          <p:cNvSpPr txBox="1"/>
          <p:nvPr/>
        </p:nvSpPr>
        <p:spPr>
          <a:xfrm>
            <a:off x="8869680" y="3803904"/>
            <a:ext cx="2651760" cy="457200"/>
          </a:xfrm>
          <a:prstGeom prst="rect">
            <a:avLst/>
          </a:prstGeom>
          <a:noFill/>
          <a:ln/>
        </p:spPr>
        <p:txBody>
          <a:bodyPr wrap="square" lIns="0" tIns="0" rIns="0" bIns="0" rtlCol="0" anchor="ctr"/>
          <a:lstStyle/>
          <a:p>
            <a:pPr algn="l" indent="0" marL="0">
              <a:buNone/>
            </a:pPr>
            <a:r>
              <a:rPr lang="en-US" sz="1200" dirty="0">
                <a:solidFill>
                  <a:srgbClr val="8B93A7"/>
                </a:solidFill>
              </a:rPr>
              <a:t>demo layers, so it never dies</a:t>
            </a:r>
            <a:endParaRPr lang="en-US" sz="1200" dirty="0"/>
          </a:p>
        </p:txBody>
      </p:sp>
      <p:sp>
        <p:nvSpPr>
          <p:cNvPr id="16" name="Text 14"/>
          <p:cNvSpPr txBox="1"/>
          <p:nvPr/>
        </p:nvSpPr>
        <p:spPr>
          <a:xfrm>
            <a:off x="640080" y="4434840"/>
            <a:ext cx="10881360" cy="13716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E6E9EF"/>
                </a:solidFill>
              </a:rPr>
              <a:t>FastAPI streaming agent events over Server-Sent Events as they happen</a:t>
            </a:r>
            <a:endParaRPr lang="en-US" sz="1400" dirty="0"/>
          </a:p>
          <a:p>
            <a:pPr marL="342900" indent="-342900">
              <a:spcAft>
                <a:spcPts val="600"/>
              </a:spcAft>
              <a:buSzPct val="100000"/>
              <a:buChar char="•"/>
            </a:pPr>
            <a:r>
              <a:rPr lang="en-US" sz="1400" dirty="0">
                <a:solidFill>
                  <a:srgbClr val="E6E9EF"/>
                </a:solidFill>
              </a:rPr>
              <a:t>Fluid compute, so one request can stream for a whole run instead of buffering</a:t>
            </a:r>
            <a:endParaRPr lang="en-US" sz="1400" dirty="0"/>
          </a:p>
          <a:p>
            <a:pPr marL="342900" indent="-342900">
              <a:spcAft>
                <a:spcPts val="600"/>
              </a:spcAft>
              <a:buSzPct val="100000"/>
              <a:buChar char="•"/>
            </a:pPr>
            <a:r>
              <a:rPr lang="en-US" sz="1400" dirty="0">
                <a:solidFill>
                  <a:srgbClr val="E6E9EF"/>
                </a:solidFill>
              </a:rPr>
              <a:t>Offline scripted provider and replay of a stored run as fallbacks</a:t>
            </a:r>
            <a:endParaRPr lang="en-US" sz="1400" dirty="0"/>
          </a:p>
          <a:p>
            <a:pPr marL="342900" indent="-342900">
              <a:spcAft>
                <a:spcPts val="600"/>
              </a:spcAft>
              <a:buSzPct val="100000"/>
              <a:buChar char="•"/>
            </a:pPr>
            <a:r>
              <a:rPr lang="en-US" sz="1400" dirty="0">
                <a:solidFill>
                  <a:srgbClr val="E6E9EF"/>
                </a:solidFill>
              </a:rPr>
              <a:t>Every push to main redeploys automatically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dge-2"/>
          <p:cNvSpPr/>
          <p:nvPr/>
        </p:nvSpPr>
        <p:spPr>
          <a:xfrm>
            <a:off x="640080" y="2148840"/>
            <a:ext cx="475488" cy="475488"/>
          </a:xfrm>
          <a:prstGeom prst="ellipse">
            <a:avLst/>
          </a:prstGeom>
          <a:solidFill>
            <a:srgbClr val="5B9DFF"/>
          </a:solidFill>
          <a:ln w="12700">
            <a:solidFill>
              <a:srgbClr val="5B9DFF"/>
            </a:solidFill>
            <a:prstDash val="solid"/>
          </a:ln>
        </p:spPr>
      </p:sp>
      <p:sp>
        <p:nvSpPr>
          <p:cNvPr id="3" name="Text 1"/>
          <p:cNvSpPr txBox="1"/>
          <p:nvPr/>
        </p:nvSpPr>
        <p:spPr>
          <a:xfrm>
            <a:off x="640080" y="2148840"/>
            <a:ext cx="475488" cy="475488"/>
          </a:xfrm>
          <a:prstGeom prst="rect">
            <a:avLst/>
          </a:prstGeom>
          <a:noFill/>
          <a:ln/>
        </p:spPr>
        <p:txBody>
          <a:bodyPr wrap="square" lIns="0" tIns="0" rIns="0" bIns="0" rtlCol="0" anchor="ctr"/>
          <a:lstStyle/>
          <a:p>
            <a:pPr algn="ctr" indent="0" marL="0">
              <a:buNone/>
            </a:pPr>
            <a:r>
              <a:rPr lang="en-US" sz="1300" b="1" dirty="0">
                <a:solidFill>
                  <a:srgbClr val="0F1115"/>
                </a:solidFill>
              </a:rPr>
              <a:t>2</a:t>
            </a:r>
            <a:endParaRPr lang="en-US" sz="1300" dirty="0"/>
          </a:p>
        </p:txBody>
      </p:sp>
      <p:sp>
        <p:nvSpPr>
          <p:cNvPr id="4" name="Text 0"/>
          <p:cNvSpPr/>
          <p:nvPr>
            <p:ph idx="100" type="title" hasCustomPrompt="1"/>
          </p:nvPr>
        </p:nvSpPr>
        <p:spPr>
          <a:xfrm>
            <a:off x="640080" y="2743200"/>
            <a:ext cx="10881360" cy="914400"/>
          </a:xfrm>
          <a:prstGeom prst="rect">
            <a:avLst/>
          </a:prstGeom>
          <a:noFill/>
          <a:ln/>
        </p:spPr>
        <p:txBody>
          <a:bodyPr wrap="square" rtlCol="0"/>
          <a:lstStyle/>
          <a:p>
            <a:pPr algn="l" indent="0" marL="0">
              <a:buNone/>
            </a:pPr>
            <a:r>
              <a:rPr lang="en-US" sz="4000" b="1" dirty="0">
                <a:solidFill>
                  <a:srgbClr val="FFFFFF"/>
                </a:solidFill>
              </a:rPr>
              <a:t>The agents</a:t>
            </a:r>
            <a:endParaRPr lang="en-US" sz="4000" dirty="0"/>
          </a:p>
        </p:txBody>
      </p:sp>
      <p:sp>
        <p:nvSpPr>
          <p:cNvPr id="5" name="Text 0"/>
          <p:cNvSpPr/>
          <p:nvPr>
            <p:ph idx="101" type="body" hasCustomPrompt="1"/>
          </p:nvPr>
        </p:nvSpPr>
        <p:spPr>
          <a:xfrm>
            <a:off x="640080" y="3703320"/>
            <a:ext cx="8229600" cy="1280160"/>
          </a:xfrm>
          <a:prstGeom prst="rect">
            <a:avLst/>
          </a:prstGeom>
          <a:noFill/>
          <a:ln/>
        </p:spPr>
        <p:txBody>
          <a:bodyPr wrap="square" rtlCol="0"/>
          <a:lstStyle/>
          <a:p>
            <a:pPr algn="l" indent="0" marL="0">
              <a:buNone/>
            </a:pPr>
            <a:r>
              <a:rPr lang="en-US" sz="1600" dirty="0">
                <a:solidFill>
                  <a:srgbClr val="8B93A7"/>
                </a:solidFill>
              </a:rPr>
              <a:t>What an agent actually is, how the roles differ, and why an LLM never has the last word</a:t>
            </a:r>
            <a:endParaRPr lang="en-US" sz="1600" dirty="0"/>
          </a:p>
        </p:txBody>
      </p:sp>
      <p:sp>
        <p:nvSpPr>
          <p:cNvPr id="6" name="Text 4"/>
          <p:cNvSpPr txBox="1"/>
          <p:nvPr/>
        </p:nvSpPr>
        <p:spPr>
          <a:xfrm>
            <a:off x="640080" y="4572000"/>
            <a:ext cx="5486400" cy="274320"/>
          </a:xfrm>
          <a:prstGeom prst="rect">
            <a:avLst/>
          </a:prstGeom>
          <a:noFill/>
          <a:ln/>
        </p:spPr>
        <p:txBody>
          <a:bodyPr wrap="square" lIns="0" tIns="0" rIns="0" bIns="0" rtlCol="0" anchor="ctr"/>
          <a:lstStyle/>
          <a:p>
            <a:pPr indent="0" marL="0">
              <a:buNone/>
            </a:pPr>
            <a:r>
              <a:rPr lang="en-US" sz="1300" b="1" dirty="0">
                <a:solidFill>
                  <a:srgbClr val="5B9DFF"/>
                </a:solidFill>
              </a:rPr>
              <a:t>Chirag Attri · 23BCS024</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Chirag Attri · 23BCS024</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An agent is a function</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5B9DFF"/>
                </a:solidFill>
              </a:rPr>
              <a:t>NO FRAMEWORK</a:t>
            </a:r>
            <a:endParaRPr lang="en-US" sz="1100" dirty="0"/>
          </a:p>
        </p:txBody>
      </p:sp>
      <p:sp>
        <p:nvSpPr>
          <p:cNvPr id="5" name="code"/>
          <p:cNvSpPr/>
          <p:nvPr/>
        </p:nvSpPr>
        <p:spPr>
          <a:xfrm>
            <a:off x="640080" y="1783080"/>
            <a:ext cx="6583680" cy="2286000"/>
          </a:xfrm>
          <a:prstGeom prst="roundRect">
            <a:avLst>
              <a:gd name="adj" fmla="val 24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914400" y="2011680"/>
            <a:ext cx="6035040" cy="1828800"/>
          </a:xfrm>
          <a:prstGeom prst="rect">
            <a:avLst/>
          </a:prstGeom>
          <a:noFill/>
          <a:ln/>
        </p:spPr>
        <p:txBody>
          <a:bodyPr wrap="square" lIns="0" tIns="0" rIns="0" bIns="0" rtlCol="0" anchor="ctr"/>
          <a:lstStyle/>
          <a:p>
            <a:pPr indent="0" marL="0">
              <a:buNone/>
            </a:pPr>
            <a:r>
              <a:rPr lang="en-US" sz="1250" dirty="0">
                <a:solidFill>
                  <a:srgbClr val="3DDC97"/>
                </a:solidFill>
                <a:latin typeface="Consolas" pitchFamily="34" charset="0"/>
                <a:ea typeface="Consolas" pitchFamily="34" charset="-122"/>
                <a:cs typeface="Consolas" pitchFamily="34" charset="-120"/>
              </a:rPr>
              <a:t>def generator(task, router, state, feedback=None):</a:t>
            </a:r>
            <a:endParaRPr lang="en-US" sz="1250" dirty="0"/>
          </a:p>
          <a:p>
            <a:pPr indent="0" marL="0">
              <a:buNone/>
            </a:pPr>
            <a:r>
              <a:rPr lang="en-US" sz="1250" dirty="0">
                <a:solidFill>
                  <a:srgbClr val="3DDC97"/>
                </a:solidFill>
                <a:latin typeface="Consolas" pitchFamily="34" charset="0"/>
                <a:ea typeface="Consolas" pitchFamily="34" charset="-122"/>
                <a:cs typeface="Consolas" pitchFamily="34" charset="-120"/>
              </a:rPr>
              <a:t>    prompt = build_prompt(task, feedback)</a:t>
            </a:r>
            <a:endParaRPr lang="en-US" sz="1250" dirty="0"/>
          </a:p>
          <a:p>
            <a:pPr indent="0" marL="0">
              <a:buNone/>
            </a:pPr>
            <a:r>
              <a:rPr lang="en-US" sz="1250" dirty="0">
                <a:solidFill>
                  <a:srgbClr val="3DDC97"/>
                </a:solidFill>
                <a:latin typeface="Consolas" pitchFamily="34" charset="0"/>
                <a:ea typeface="Consolas" pitchFamily="34" charset="-122"/>
                <a:cs typeface="Consolas" pitchFamily="34" charset="-120"/>
              </a:rPr>
              <a:t>    resp   = router.call(prompt,</a:t>
            </a:r>
            <a:endParaRPr lang="en-US" sz="1250" dirty="0"/>
          </a:p>
          <a:p>
            <a:pPr indent="0" marL="0">
              <a:buNone/>
            </a:pPr>
            <a:r>
              <a:rPr lang="en-US" sz="1250" dirty="0">
                <a:solidFill>
                  <a:srgbClr val="3DDC97"/>
                </a:solidFill>
                <a:latin typeface="Consolas" pitchFamily="34" charset="0"/>
                <a:ea typeface="Consolas" pitchFamily="34" charset="-122"/>
                <a:cs typeface="Consolas" pitchFamily="34" charset="-120"/>
              </a:rPr>
              <a:t>                 schema=SOLUTION_SCHEMA, state=state)</a:t>
            </a:r>
            <a:endParaRPr lang="en-US" sz="1250" dirty="0"/>
          </a:p>
          <a:p>
            <a:pPr indent="0" marL="0">
              <a:buNone/>
            </a:pPr>
            <a:r>
              <a:rPr lang="en-US" sz="1250" dirty="0">
                <a:solidFill>
                  <a:srgbClr val="3DDC97"/>
                </a:solidFill>
                <a:latin typeface="Consolas" pitchFamily="34" charset="0"/>
                <a:ea typeface="Consolas" pitchFamily="34" charset="-122"/>
                <a:cs typeface="Consolas" pitchFamily="34" charset="-120"/>
              </a:rPr>
              <a:t>    return Solution.model_validate_json(resp.text)</a:t>
            </a:r>
            <a:endParaRPr lang="en-US" sz="1250" dirty="0"/>
          </a:p>
        </p:txBody>
      </p:sp>
      <p:sp>
        <p:nvSpPr>
          <p:cNvPr id="7" name="badge-1"/>
          <p:cNvSpPr/>
          <p:nvPr/>
        </p:nvSpPr>
        <p:spPr>
          <a:xfrm>
            <a:off x="7680960" y="1920240"/>
            <a:ext cx="347472" cy="347472"/>
          </a:xfrm>
          <a:prstGeom prst="ellipse">
            <a:avLst/>
          </a:prstGeom>
          <a:solidFill>
            <a:srgbClr val="3DDC97"/>
          </a:solidFill>
          <a:ln w="12700">
            <a:solidFill>
              <a:srgbClr val="3DDC97"/>
            </a:solidFill>
            <a:prstDash val="solid"/>
          </a:ln>
        </p:spPr>
      </p:sp>
      <p:sp>
        <p:nvSpPr>
          <p:cNvPr id="8" name="Text 6"/>
          <p:cNvSpPr txBox="1"/>
          <p:nvPr/>
        </p:nvSpPr>
        <p:spPr>
          <a:xfrm>
            <a:off x="7680960" y="1920240"/>
            <a:ext cx="347472" cy="347472"/>
          </a:xfrm>
          <a:prstGeom prst="rect">
            <a:avLst/>
          </a:prstGeom>
          <a:noFill/>
          <a:ln/>
        </p:spPr>
        <p:txBody>
          <a:bodyPr wrap="square" lIns="0" tIns="0" rIns="0" bIns="0" rtlCol="0" anchor="ctr"/>
          <a:lstStyle/>
          <a:p>
            <a:pPr algn="ctr" indent="0" marL="0">
              <a:buNone/>
            </a:pPr>
            <a:r>
              <a:rPr lang="en-US" sz="1300" b="1" dirty="0">
                <a:solidFill>
                  <a:srgbClr val="0F1115"/>
                </a:solidFill>
              </a:rPr>
              <a:t>1</a:t>
            </a:r>
            <a:endParaRPr lang="en-US" sz="1300" dirty="0"/>
          </a:p>
        </p:txBody>
      </p:sp>
      <p:sp>
        <p:nvSpPr>
          <p:cNvPr id="9" name="Text 7"/>
          <p:cNvSpPr txBox="1"/>
          <p:nvPr/>
        </p:nvSpPr>
        <p:spPr>
          <a:xfrm>
            <a:off x="8183880" y="1892808"/>
            <a:ext cx="3200400" cy="411480"/>
          </a:xfrm>
          <a:prstGeom prst="rect">
            <a:avLst/>
          </a:prstGeom>
          <a:noFill/>
          <a:ln/>
        </p:spPr>
        <p:txBody>
          <a:bodyPr wrap="square" lIns="0" tIns="0" rIns="0" bIns="0" rtlCol="0" anchor="ctr"/>
          <a:lstStyle/>
          <a:p>
            <a:pPr indent="0" marL="0">
              <a:buNone/>
            </a:pPr>
            <a:r>
              <a:rPr lang="en-US" sz="1700" b="1" dirty="0">
                <a:solidFill>
                  <a:srgbClr val="FFFFFF"/>
                </a:solidFill>
              </a:rPr>
              <a:t>A role prompt</a:t>
            </a:r>
            <a:endParaRPr lang="en-US" sz="1700" dirty="0"/>
          </a:p>
        </p:txBody>
      </p:sp>
      <p:sp>
        <p:nvSpPr>
          <p:cNvPr id="10" name="badge-2"/>
          <p:cNvSpPr/>
          <p:nvPr/>
        </p:nvSpPr>
        <p:spPr>
          <a:xfrm>
            <a:off x="7680960" y="2670048"/>
            <a:ext cx="347472" cy="347472"/>
          </a:xfrm>
          <a:prstGeom prst="ellipse">
            <a:avLst/>
          </a:prstGeom>
          <a:solidFill>
            <a:srgbClr val="5B9DFF"/>
          </a:solidFill>
          <a:ln w="12700">
            <a:solidFill>
              <a:srgbClr val="5B9DFF"/>
            </a:solidFill>
            <a:prstDash val="solid"/>
          </a:ln>
        </p:spPr>
      </p:sp>
      <p:sp>
        <p:nvSpPr>
          <p:cNvPr id="11" name="Text 9"/>
          <p:cNvSpPr txBox="1"/>
          <p:nvPr/>
        </p:nvSpPr>
        <p:spPr>
          <a:xfrm>
            <a:off x="7680960" y="2670048"/>
            <a:ext cx="347472" cy="347472"/>
          </a:xfrm>
          <a:prstGeom prst="rect">
            <a:avLst/>
          </a:prstGeom>
          <a:noFill/>
          <a:ln/>
        </p:spPr>
        <p:txBody>
          <a:bodyPr wrap="square" lIns="0" tIns="0" rIns="0" bIns="0" rtlCol="0" anchor="ctr"/>
          <a:lstStyle/>
          <a:p>
            <a:pPr algn="ctr" indent="0" marL="0">
              <a:buNone/>
            </a:pPr>
            <a:r>
              <a:rPr lang="en-US" sz="1300" b="1" dirty="0">
                <a:solidFill>
                  <a:srgbClr val="0F1115"/>
                </a:solidFill>
              </a:rPr>
              <a:t>2</a:t>
            </a:r>
            <a:endParaRPr lang="en-US" sz="1300" dirty="0"/>
          </a:p>
        </p:txBody>
      </p:sp>
      <p:sp>
        <p:nvSpPr>
          <p:cNvPr id="12" name="Text 10"/>
          <p:cNvSpPr txBox="1"/>
          <p:nvPr/>
        </p:nvSpPr>
        <p:spPr>
          <a:xfrm>
            <a:off x="8183880" y="2642616"/>
            <a:ext cx="3200400" cy="411480"/>
          </a:xfrm>
          <a:prstGeom prst="rect">
            <a:avLst/>
          </a:prstGeom>
          <a:noFill/>
          <a:ln/>
        </p:spPr>
        <p:txBody>
          <a:bodyPr wrap="square" lIns="0" tIns="0" rIns="0" bIns="0" rtlCol="0" anchor="ctr"/>
          <a:lstStyle/>
          <a:p>
            <a:pPr indent="0" marL="0">
              <a:buNone/>
            </a:pPr>
            <a:r>
              <a:rPr lang="en-US" sz="1700" b="1" dirty="0">
                <a:solidFill>
                  <a:srgbClr val="FFFFFF"/>
                </a:solidFill>
              </a:rPr>
              <a:t>One model call</a:t>
            </a:r>
            <a:endParaRPr lang="en-US" sz="1700" dirty="0"/>
          </a:p>
        </p:txBody>
      </p:sp>
      <p:sp>
        <p:nvSpPr>
          <p:cNvPr id="13" name="badge-3"/>
          <p:cNvSpPr/>
          <p:nvPr/>
        </p:nvSpPr>
        <p:spPr>
          <a:xfrm>
            <a:off x="7680960" y="3419856"/>
            <a:ext cx="347472" cy="347472"/>
          </a:xfrm>
          <a:prstGeom prst="ellipse">
            <a:avLst/>
          </a:prstGeom>
          <a:solidFill>
            <a:srgbClr val="F0B429"/>
          </a:solidFill>
          <a:ln w="12700">
            <a:solidFill>
              <a:srgbClr val="F0B429"/>
            </a:solidFill>
            <a:prstDash val="solid"/>
          </a:ln>
        </p:spPr>
      </p:sp>
      <p:sp>
        <p:nvSpPr>
          <p:cNvPr id="14" name="Text 12"/>
          <p:cNvSpPr txBox="1"/>
          <p:nvPr/>
        </p:nvSpPr>
        <p:spPr>
          <a:xfrm>
            <a:off x="7680960" y="3419856"/>
            <a:ext cx="347472" cy="347472"/>
          </a:xfrm>
          <a:prstGeom prst="rect">
            <a:avLst/>
          </a:prstGeom>
          <a:noFill/>
          <a:ln/>
        </p:spPr>
        <p:txBody>
          <a:bodyPr wrap="square" lIns="0" tIns="0" rIns="0" bIns="0" rtlCol="0" anchor="ctr"/>
          <a:lstStyle/>
          <a:p>
            <a:pPr algn="ctr" indent="0" marL="0">
              <a:buNone/>
            </a:pPr>
            <a:r>
              <a:rPr lang="en-US" sz="1300" b="1" dirty="0">
                <a:solidFill>
                  <a:srgbClr val="0F1115"/>
                </a:solidFill>
              </a:rPr>
              <a:t>3</a:t>
            </a:r>
            <a:endParaRPr lang="en-US" sz="1300" dirty="0"/>
          </a:p>
        </p:txBody>
      </p:sp>
      <p:sp>
        <p:nvSpPr>
          <p:cNvPr id="15" name="Text 13"/>
          <p:cNvSpPr txBox="1"/>
          <p:nvPr/>
        </p:nvSpPr>
        <p:spPr>
          <a:xfrm>
            <a:off x="8183880" y="3392424"/>
            <a:ext cx="3200400" cy="411480"/>
          </a:xfrm>
          <a:prstGeom prst="rect">
            <a:avLst/>
          </a:prstGeom>
          <a:noFill/>
          <a:ln/>
        </p:spPr>
        <p:txBody>
          <a:bodyPr wrap="square" lIns="0" tIns="0" rIns="0" bIns="0" rtlCol="0" anchor="ctr"/>
          <a:lstStyle/>
          <a:p>
            <a:pPr indent="0" marL="0">
              <a:buNone/>
            </a:pPr>
            <a:r>
              <a:rPr lang="en-US" sz="1700" b="1" dirty="0">
                <a:solidFill>
                  <a:srgbClr val="FFFFFF"/>
                </a:solidFill>
              </a:rPr>
              <a:t>A typed parse</a:t>
            </a:r>
            <a:endParaRPr lang="en-US" sz="1700" dirty="0"/>
          </a:p>
        </p:txBody>
      </p:sp>
      <p:sp>
        <p:nvSpPr>
          <p:cNvPr id="16" name="Text 14"/>
          <p:cNvSpPr txBox="1"/>
          <p:nvPr/>
        </p:nvSpPr>
        <p:spPr>
          <a:xfrm>
            <a:off x="640080" y="4343400"/>
            <a:ext cx="10881360" cy="548640"/>
          </a:xfrm>
          <a:prstGeom prst="rect">
            <a:avLst/>
          </a:prstGeom>
          <a:noFill/>
          <a:ln/>
        </p:spPr>
        <p:txBody>
          <a:bodyPr wrap="square" lIns="0" tIns="0" rIns="0" bIns="0" rtlCol="0" anchor="ctr"/>
          <a:lstStyle/>
          <a:p>
            <a:pPr indent="0" marL="0">
              <a:buNone/>
            </a:pPr>
            <a:r>
              <a:rPr lang="en-US" sz="1500" dirty="0">
                <a:solidFill>
                  <a:srgbClr val="E6E9EF"/>
                </a:solidFill>
              </a:rPr>
              <a:t>Agents differ only in their system prompt — same model, same code path. So any measured difference is caused by the prompt and nothing else.</a:t>
            </a:r>
            <a:endParaRPr lang="en-US" sz="1500" dirty="0"/>
          </a:p>
        </p:txBody>
      </p:sp>
      <p:sp>
        <p:nvSpPr>
          <p:cNvPr id="17" name="Text 15"/>
          <p:cNvSpPr txBox="1"/>
          <p:nvPr/>
        </p:nvSpPr>
        <p:spPr>
          <a:xfrm>
            <a:off x="640080" y="5029200"/>
            <a:ext cx="10881360" cy="731520"/>
          </a:xfrm>
          <a:prstGeom prst="rect">
            <a:avLst/>
          </a:prstGeom>
          <a:noFill/>
          <a:ln/>
        </p:spPr>
        <p:txBody>
          <a:bodyPr wrap="square" lIns="0" tIns="0" rIns="0" bIns="0" rtlCol="0" anchor="ctr"/>
          <a:lstStyle/>
          <a:p>
            <a:pPr indent="0" marL="0">
              <a:buNone/>
            </a:pPr>
            <a:r>
              <a:rPr lang="en-US" sz="1300" dirty="0">
                <a:solidFill>
                  <a:srgbClr val="8B93A7"/>
                </a:solidFill>
              </a:rPr>
              <a:t>Structured output is enforced: a JSON schema goes with the request and Pydantic parses the reply. If it does not match, parsing raises and the run records the failure instead of passing garbage down the pipeline.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Chirag Attri · 23BCS024</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A fixed library, never invention</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5B9DFF"/>
                </a:solidFill>
              </a:rPr>
              <a:t>THE ROLES</a:t>
            </a:r>
            <a:endParaRPr lang="en-US" sz="1100" dirty="0"/>
          </a:p>
        </p:txBody>
      </p:sp>
      <p:sp>
        <p:nvSpPr>
          <p:cNvPr id="5" name="role-0"/>
          <p:cNvSpPr/>
          <p:nvPr/>
        </p:nvSpPr>
        <p:spPr>
          <a:xfrm>
            <a:off x="640080" y="1783080"/>
            <a:ext cx="10881360" cy="603504"/>
          </a:xfrm>
          <a:prstGeom prst="roundRect">
            <a:avLst>
              <a:gd name="adj" fmla="val 9091"/>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68680" y="1783080"/>
            <a:ext cx="2194560" cy="603504"/>
          </a:xfrm>
          <a:prstGeom prst="rect">
            <a:avLst/>
          </a:prstGeom>
          <a:noFill/>
          <a:ln/>
        </p:spPr>
        <p:txBody>
          <a:bodyPr wrap="square" lIns="0" tIns="0" rIns="0" bIns="0" rtlCol="0" anchor="ctr"/>
          <a:lstStyle/>
          <a:p>
            <a:pPr indent="0" marL="0">
              <a:buNone/>
            </a:pPr>
            <a:r>
              <a:rPr lang="en-US" sz="1500" b="1" dirty="0">
                <a:solidFill>
                  <a:srgbClr val="5B9DFF"/>
                </a:solidFill>
                <a:latin typeface="Consolas" pitchFamily="34" charset="0"/>
                <a:ea typeface="Consolas" pitchFamily="34" charset="-122"/>
                <a:cs typeface="Consolas" pitchFamily="34" charset="-120"/>
              </a:rPr>
              <a:t>planner</a:t>
            </a:r>
            <a:endParaRPr lang="en-US" sz="1500" dirty="0"/>
          </a:p>
        </p:txBody>
      </p:sp>
      <p:sp>
        <p:nvSpPr>
          <p:cNvPr id="7" name="Text 5"/>
          <p:cNvSpPr txBox="1"/>
          <p:nvPr/>
        </p:nvSpPr>
        <p:spPr>
          <a:xfrm>
            <a:off x="3246120" y="1783080"/>
            <a:ext cx="8046720" cy="603504"/>
          </a:xfrm>
          <a:prstGeom prst="rect">
            <a:avLst/>
          </a:prstGeom>
          <a:noFill/>
          <a:ln/>
        </p:spPr>
        <p:txBody>
          <a:bodyPr wrap="square" lIns="0" tIns="0" rIns="0" bIns="0" rtlCol="0" anchor="ctr"/>
          <a:lstStyle/>
          <a:p>
            <a:pPr indent="0" marL="0">
              <a:buNone/>
            </a:pPr>
            <a:r>
              <a:rPr lang="en-US" sz="1400" dirty="0">
                <a:solidFill>
                  <a:srgbClr val="E6E9EF"/>
                </a:solidFill>
              </a:rPr>
              <a:t>chooses which roles and how many rounds this task needs</a:t>
            </a:r>
            <a:endParaRPr lang="en-US" sz="1400" dirty="0"/>
          </a:p>
        </p:txBody>
      </p:sp>
      <p:sp>
        <p:nvSpPr>
          <p:cNvPr id="8" name="role-1"/>
          <p:cNvSpPr/>
          <p:nvPr/>
        </p:nvSpPr>
        <p:spPr>
          <a:xfrm>
            <a:off x="640080" y="2496312"/>
            <a:ext cx="10881360" cy="603504"/>
          </a:xfrm>
          <a:prstGeom prst="roundRect">
            <a:avLst>
              <a:gd name="adj" fmla="val 9091"/>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868680" y="2496312"/>
            <a:ext cx="2194560" cy="603504"/>
          </a:xfrm>
          <a:prstGeom prst="rect">
            <a:avLst/>
          </a:prstGeom>
          <a:noFill/>
          <a:ln/>
        </p:spPr>
        <p:txBody>
          <a:bodyPr wrap="square" lIns="0" tIns="0" rIns="0" bIns="0" rtlCol="0" anchor="ctr"/>
          <a:lstStyle/>
          <a:p>
            <a:pPr indent="0" marL="0">
              <a:buNone/>
            </a:pPr>
            <a:r>
              <a:rPr lang="en-US" sz="1500" b="1" dirty="0">
                <a:solidFill>
                  <a:srgbClr val="3DDC97"/>
                </a:solidFill>
                <a:latin typeface="Consolas" pitchFamily="34" charset="0"/>
                <a:ea typeface="Consolas" pitchFamily="34" charset="-122"/>
                <a:cs typeface="Consolas" pitchFamily="34" charset="-120"/>
              </a:rPr>
              <a:t>generator</a:t>
            </a:r>
            <a:endParaRPr lang="en-US" sz="1500" dirty="0"/>
          </a:p>
        </p:txBody>
      </p:sp>
      <p:sp>
        <p:nvSpPr>
          <p:cNvPr id="10" name="Text 8"/>
          <p:cNvSpPr txBox="1"/>
          <p:nvPr/>
        </p:nvSpPr>
        <p:spPr>
          <a:xfrm>
            <a:off x="3246120" y="2496312"/>
            <a:ext cx="8046720" cy="603504"/>
          </a:xfrm>
          <a:prstGeom prst="rect">
            <a:avLst/>
          </a:prstGeom>
          <a:noFill/>
          <a:ln/>
        </p:spPr>
        <p:txBody>
          <a:bodyPr wrap="square" lIns="0" tIns="0" rIns="0" bIns="0" rtlCol="0" anchor="ctr"/>
          <a:lstStyle/>
          <a:p>
            <a:pPr indent="0" marL="0">
              <a:buNone/>
            </a:pPr>
            <a:r>
              <a:rPr lang="en-US" sz="1400" dirty="0">
                <a:solidFill>
                  <a:srgbClr val="E6E9EF"/>
                </a:solidFill>
              </a:rPr>
              <a:t>writes the solution — always required</a:t>
            </a:r>
            <a:endParaRPr lang="en-US" sz="1400" dirty="0"/>
          </a:p>
        </p:txBody>
      </p:sp>
      <p:sp>
        <p:nvSpPr>
          <p:cNvPr id="11" name="role-2"/>
          <p:cNvSpPr/>
          <p:nvPr/>
        </p:nvSpPr>
        <p:spPr>
          <a:xfrm>
            <a:off x="640080" y="3209544"/>
            <a:ext cx="10881360" cy="603504"/>
          </a:xfrm>
          <a:prstGeom prst="roundRect">
            <a:avLst>
              <a:gd name="adj" fmla="val 9091"/>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868680" y="3209544"/>
            <a:ext cx="2194560" cy="603504"/>
          </a:xfrm>
          <a:prstGeom prst="rect">
            <a:avLst/>
          </a:prstGeom>
          <a:noFill/>
          <a:ln/>
        </p:spPr>
        <p:txBody>
          <a:bodyPr wrap="square" lIns="0" tIns="0" rIns="0" bIns="0" rtlCol="0" anchor="ctr"/>
          <a:lstStyle/>
          <a:p>
            <a:pPr indent="0" marL="0">
              <a:buNone/>
            </a:pPr>
            <a:r>
              <a:rPr lang="en-US" sz="1500" b="1" dirty="0">
                <a:solidFill>
                  <a:srgbClr val="5B9DFF"/>
                </a:solidFill>
                <a:latin typeface="Consolas" pitchFamily="34" charset="0"/>
                <a:ea typeface="Consolas" pitchFamily="34" charset="-122"/>
                <a:cs typeface="Consolas" pitchFamily="34" charset="-120"/>
              </a:rPr>
              <a:t>test_designer</a:t>
            </a:r>
            <a:endParaRPr lang="en-US" sz="1500" dirty="0"/>
          </a:p>
        </p:txBody>
      </p:sp>
      <p:sp>
        <p:nvSpPr>
          <p:cNvPr id="13" name="Text 11"/>
          <p:cNvSpPr txBox="1"/>
          <p:nvPr/>
        </p:nvSpPr>
        <p:spPr>
          <a:xfrm>
            <a:off x="3246120" y="3209544"/>
            <a:ext cx="8046720" cy="603504"/>
          </a:xfrm>
          <a:prstGeom prst="rect">
            <a:avLst/>
          </a:prstGeom>
          <a:noFill/>
          <a:ln/>
        </p:spPr>
        <p:txBody>
          <a:bodyPr wrap="square" lIns="0" tIns="0" rIns="0" bIns="0" rtlCol="0" anchor="ctr"/>
          <a:lstStyle/>
          <a:p>
            <a:pPr indent="0" marL="0">
              <a:buNone/>
            </a:pPr>
            <a:r>
              <a:rPr lang="en-US" sz="1400" dirty="0">
                <a:solidFill>
                  <a:srgbClr val="E6E9EF"/>
                </a:solidFill>
              </a:rPr>
              <a:t>writes executable tests for a task nobody has seen</a:t>
            </a:r>
            <a:endParaRPr lang="en-US" sz="1400" dirty="0"/>
          </a:p>
        </p:txBody>
      </p:sp>
      <p:sp>
        <p:nvSpPr>
          <p:cNvPr id="14" name="role-3"/>
          <p:cNvSpPr/>
          <p:nvPr/>
        </p:nvSpPr>
        <p:spPr>
          <a:xfrm>
            <a:off x="640080" y="3922776"/>
            <a:ext cx="10881360" cy="603504"/>
          </a:xfrm>
          <a:prstGeom prst="roundRect">
            <a:avLst>
              <a:gd name="adj" fmla="val 9091"/>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868680" y="3922776"/>
            <a:ext cx="2194560" cy="603504"/>
          </a:xfrm>
          <a:prstGeom prst="rect">
            <a:avLst/>
          </a:prstGeom>
          <a:noFill/>
          <a:ln/>
        </p:spPr>
        <p:txBody>
          <a:bodyPr wrap="square" lIns="0" tIns="0" rIns="0" bIns="0" rtlCol="0" anchor="ctr"/>
          <a:lstStyle/>
          <a:p>
            <a:pPr indent="0" marL="0">
              <a:buNone/>
            </a:pPr>
            <a:r>
              <a:rPr lang="en-US" sz="1500" b="1" dirty="0">
                <a:solidFill>
                  <a:srgbClr val="F0B429"/>
                </a:solidFill>
                <a:latin typeface="Consolas" pitchFamily="34" charset="0"/>
                <a:ea typeface="Consolas" pitchFamily="34" charset="-122"/>
                <a:cs typeface="Consolas" pitchFamily="34" charset="-120"/>
              </a:rPr>
              <a:t>critic</a:t>
            </a:r>
            <a:endParaRPr lang="en-US" sz="1500" dirty="0"/>
          </a:p>
        </p:txBody>
      </p:sp>
      <p:sp>
        <p:nvSpPr>
          <p:cNvPr id="16" name="Text 14"/>
          <p:cNvSpPr txBox="1"/>
          <p:nvPr/>
        </p:nvSpPr>
        <p:spPr>
          <a:xfrm>
            <a:off x="3246120" y="3922776"/>
            <a:ext cx="8046720" cy="603504"/>
          </a:xfrm>
          <a:prstGeom prst="rect">
            <a:avLst/>
          </a:prstGeom>
          <a:noFill/>
          <a:ln/>
        </p:spPr>
        <p:txBody>
          <a:bodyPr wrap="square" lIns="0" tIns="0" rIns="0" bIns="0" rtlCol="0" anchor="ctr"/>
          <a:lstStyle/>
          <a:p>
            <a:pPr indent="0" marL="0">
              <a:buNone/>
            </a:pPr>
            <a:r>
              <a:rPr lang="en-US" sz="1400" dirty="0">
                <a:solidFill>
                  <a:srgbClr val="E6E9EF"/>
                </a:solidFill>
              </a:rPr>
              <a:t>reviews sceptically — advisory only, never authoritative</a:t>
            </a:r>
            <a:endParaRPr lang="en-US" sz="1400" dirty="0"/>
          </a:p>
        </p:txBody>
      </p:sp>
      <p:sp>
        <p:nvSpPr>
          <p:cNvPr id="17" name="role-4"/>
          <p:cNvSpPr/>
          <p:nvPr/>
        </p:nvSpPr>
        <p:spPr>
          <a:xfrm>
            <a:off x="640080" y="4636008"/>
            <a:ext cx="10881360" cy="603504"/>
          </a:xfrm>
          <a:prstGeom prst="roundRect">
            <a:avLst>
              <a:gd name="adj" fmla="val 9091"/>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868680" y="4636008"/>
            <a:ext cx="2194560" cy="603504"/>
          </a:xfrm>
          <a:prstGeom prst="rect">
            <a:avLst/>
          </a:prstGeom>
          <a:noFill/>
          <a:ln/>
        </p:spPr>
        <p:txBody>
          <a:bodyPr wrap="square" lIns="0" tIns="0" rIns="0" bIns="0" rtlCol="0" anchor="ctr"/>
          <a:lstStyle/>
          <a:p>
            <a:pPr indent="0" marL="0">
              <a:buNone/>
            </a:pPr>
            <a:r>
              <a:rPr lang="en-US" sz="1500" b="1" dirty="0">
                <a:solidFill>
                  <a:srgbClr val="3DDC97"/>
                </a:solidFill>
                <a:latin typeface="Consolas" pitchFamily="34" charset="0"/>
                <a:ea typeface="Consolas" pitchFamily="34" charset="-122"/>
                <a:cs typeface="Consolas" pitchFamily="34" charset="-120"/>
              </a:rPr>
              <a:t>repair</a:t>
            </a:r>
            <a:endParaRPr lang="en-US" sz="1500" dirty="0"/>
          </a:p>
        </p:txBody>
      </p:sp>
      <p:sp>
        <p:nvSpPr>
          <p:cNvPr id="19" name="Text 17"/>
          <p:cNvSpPr txBox="1"/>
          <p:nvPr/>
        </p:nvSpPr>
        <p:spPr>
          <a:xfrm>
            <a:off x="3246120" y="4636008"/>
            <a:ext cx="8046720" cy="603504"/>
          </a:xfrm>
          <a:prstGeom prst="rect">
            <a:avLst/>
          </a:prstGeom>
          <a:noFill/>
          <a:ln/>
        </p:spPr>
        <p:txBody>
          <a:bodyPr wrap="square" lIns="0" tIns="0" rIns="0" bIns="0" rtlCol="0" anchor="ctr"/>
          <a:lstStyle/>
          <a:p>
            <a:pPr indent="0" marL="0">
              <a:buNone/>
            </a:pPr>
            <a:r>
              <a:rPr lang="en-US" sz="1400" dirty="0">
                <a:solidFill>
                  <a:srgbClr val="E6E9EF"/>
                </a:solidFill>
              </a:rPr>
              <a:t>re-solves, primed to distrust the previous approach</a:t>
            </a:r>
            <a:endParaRPr lang="en-US" sz="1400" dirty="0"/>
          </a:p>
        </p:txBody>
      </p:sp>
      <p:sp>
        <p:nvSpPr>
          <p:cNvPr id="20" name="Text 18"/>
          <p:cNvSpPr txBox="1"/>
          <p:nvPr/>
        </p:nvSpPr>
        <p:spPr>
          <a:xfrm>
            <a:off x="640080" y="5486400"/>
            <a:ext cx="10881360" cy="548640"/>
          </a:xfrm>
          <a:prstGeom prst="rect">
            <a:avLst/>
          </a:prstGeom>
          <a:noFill/>
          <a:ln/>
        </p:spPr>
        <p:txBody>
          <a:bodyPr wrap="square" lIns="0" tIns="0" rIns="0" bIns="0" rtlCol="0" anchor="ctr"/>
          <a:lstStyle/>
          <a:p>
            <a:pPr indent="0" marL="0">
              <a:buNone/>
            </a:pPr>
            <a:r>
              <a:rPr lang="en-US" sz="1400" b="1" dirty="0">
                <a:solidFill>
                  <a:srgbClr val="FFFFFF"/>
                </a:solidFill>
              </a:rPr>
              <a:t>Dynamic selection, not dynamic invention. </a:t>
            </a:r>
            <a:pPr indent="0" marL="0">
              <a:buNone/>
            </a:pPr>
            <a:r>
              <a:rPr lang="en-US" sz="1400" dirty="0">
                <a:solidFill>
                  <a:srgbClr val="8B93A7"/>
                </a:solidFill>
              </a:rPr>
              <a:t>Agents invented at runtime would be unbounded and unreproducible — that would be a demo, not an experiment.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Chirag Attri · 23BCS024</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Testing a task nobody has seen</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5B9DFF"/>
                </a:solidFill>
              </a:rPr>
              <a:t>THE TEST DESIGNER</a:t>
            </a:r>
            <a:endParaRPr lang="en-US" sz="1100" dirty="0"/>
          </a:p>
        </p:txBody>
      </p:sp>
      <p:sp>
        <p:nvSpPr>
          <p:cNvPr id="5" name="why"/>
          <p:cNvSpPr/>
          <p:nvPr/>
        </p:nvSpPr>
        <p:spPr>
          <a:xfrm>
            <a:off x="640080" y="1783080"/>
            <a:ext cx="5303520" cy="1920240"/>
          </a:xfrm>
          <a:prstGeom prst="roundRect">
            <a:avLst>
              <a:gd name="adj" fmla="val 2857"/>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96112" y="1938528"/>
            <a:ext cx="4754880" cy="320040"/>
          </a:xfrm>
          <a:prstGeom prst="rect">
            <a:avLst/>
          </a:prstGeom>
          <a:noFill/>
          <a:ln/>
        </p:spPr>
        <p:txBody>
          <a:bodyPr wrap="square" lIns="0" tIns="0" rIns="0" bIns="0" rtlCol="0" anchor="ctr"/>
          <a:lstStyle/>
          <a:p>
            <a:pPr indent="0" marL="0">
              <a:buNone/>
            </a:pPr>
            <a:r>
              <a:rPr lang="en-US" sz="1600" b="1" dirty="0">
                <a:solidFill>
                  <a:srgbClr val="F0B429"/>
                </a:solidFill>
              </a:rPr>
              <a:t>The problem</a:t>
            </a:r>
            <a:endParaRPr lang="en-US" sz="1600" dirty="0"/>
          </a:p>
        </p:txBody>
      </p:sp>
      <p:sp>
        <p:nvSpPr>
          <p:cNvPr id="7" name="Text 5"/>
          <p:cNvSpPr txBox="1"/>
          <p:nvPr/>
        </p:nvSpPr>
        <p:spPr>
          <a:xfrm>
            <a:off x="896112" y="2286000"/>
            <a:ext cx="4754880" cy="1280160"/>
          </a:xfrm>
          <a:prstGeom prst="rect">
            <a:avLst/>
          </a:prstGeom>
          <a:noFill/>
          <a:ln/>
        </p:spPr>
        <p:txBody>
          <a:bodyPr wrap="square" lIns="0" tIns="0" rIns="0" bIns="0" rtlCol="0" anchor="ctr"/>
          <a:lstStyle/>
          <a:p>
            <a:pPr indent="0" marL="0">
              <a:buNone/>
            </a:pPr>
            <a:r>
              <a:rPr lang="en-US" sz="1300" dirty="0">
                <a:solidFill>
                  <a:srgbClr val="E6E9EF"/>
                </a:solidFill>
              </a:rPr>
              <a:t>Benchmark tasks ship with tests. A task typed by the panel does not. Without tests there is nothing to validate against, and the demo would be circular.</a:t>
            </a:r>
            <a:endParaRPr lang="en-US" sz="1300" dirty="0"/>
          </a:p>
        </p:txBody>
      </p:sp>
      <p:sp>
        <p:nvSpPr>
          <p:cNvPr id="8" name="what"/>
          <p:cNvSpPr/>
          <p:nvPr/>
        </p:nvSpPr>
        <p:spPr>
          <a:xfrm>
            <a:off x="6217920" y="1783080"/>
            <a:ext cx="5303520" cy="1920240"/>
          </a:xfrm>
          <a:prstGeom prst="roundRect">
            <a:avLst>
              <a:gd name="adj" fmla="val 2857"/>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6473952" y="1938528"/>
            <a:ext cx="4754880" cy="320040"/>
          </a:xfrm>
          <a:prstGeom prst="rect">
            <a:avLst/>
          </a:prstGeom>
          <a:noFill/>
          <a:ln/>
        </p:spPr>
        <p:txBody>
          <a:bodyPr wrap="square" lIns="0" tIns="0" rIns="0" bIns="0" rtlCol="0" anchor="ctr"/>
          <a:lstStyle/>
          <a:p>
            <a:pPr indent="0" marL="0">
              <a:buNone/>
            </a:pPr>
            <a:r>
              <a:rPr lang="en-US" sz="1600" b="1" dirty="0">
                <a:solidFill>
                  <a:srgbClr val="3DDC97"/>
                </a:solidFill>
              </a:rPr>
              <a:t>What it does</a:t>
            </a:r>
            <a:endParaRPr lang="en-US" sz="1600" dirty="0"/>
          </a:p>
        </p:txBody>
      </p:sp>
      <p:sp>
        <p:nvSpPr>
          <p:cNvPr id="10" name="Text 8"/>
          <p:cNvSpPr txBox="1"/>
          <p:nvPr/>
        </p:nvSpPr>
        <p:spPr>
          <a:xfrm>
            <a:off x="6473952" y="2286000"/>
            <a:ext cx="4754880" cy="1280160"/>
          </a:xfrm>
          <a:prstGeom prst="rect">
            <a:avLst/>
          </a:prstGeom>
          <a:noFill/>
          <a:ln/>
        </p:spPr>
        <p:txBody>
          <a:bodyPr wrap="square" lIns="0" tIns="0" rIns="0" bIns="0" rtlCol="0" anchor="ctr"/>
          <a:lstStyle/>
          <a:p>
            <a:pPr indent="0" marL="0">
              <a:buNone/>
            </a:pPr>
            <a:r>
              <a:rPr lang="en-US" sz="1300" dirty="0">
                <a:solidFill>
                  <a:srgbClr val="E6E9EF"/>
                </a:solidFill>
              </a:rPr>
              <a:t>Derives executable tests from the description and fixes the function signature — otherwise the tester checks two_sum while the generator wrote twoSum, and everything fails for the wrong reason.</a:t>
            </a:r>
            <a:endParaRPr lang="en-US" sz="1300" dirty="0"/>
          </a:p>
        </p:txBody>
      </p:sp>
      <p:sp>
        <p:nvSpPr>
          <p:cNvPr id="11" name="Text 9"/>
          <p:cNvSpPr txBox="1"/>
          <p:nvPr/>
        </p:nvSpPr>
        <p:spPr>
          <a:xfrm>
            <a:off x="640080" y="3886200"/>
            <a:ext cx="10881360" cy="320040"/>
          </a:xfrm>
          <a:prstGeom prst="rect">
            <a:avLst/>
          </a:prstGeom>
          <a:noFill/>
          <a:ln/>
        </p:spPr>
        <p:txBody>
          <a:bodyPr wrap="square" lIns="0" tIns="0" rIns="0" bIns="0" rtlCol="0" anchor="ctr"/>
          <a:lstStyle/>
          <a:p>
            <a:pPr indent="0" marL="0">
              <a:buNone/>
            </a:pPr>
            <a:r>
              <a:rPr lang="en-US" sz="1500" b="1" dirty="0">
                <a:solidFill>
                  <a:srgbClr val="FFFFFF"/>
                </a:solidFill>
              </a:rPr>
              <a:t>Generated tests are parsed and checked before they are ever run</a:t>
            </a:r>
            <a:endParaRPr lang="en-US" sz="1500" dirty="0"/>
          </a:p>
        </p:txBody>
      </p:sp>
      <p:sp>
        <p:nvSpPr>
          <p:cNvPr id="12" name="badge-✓"/>
          <p:cNvSpPr/>
          <p:nvPr/>
        </p:nvSpPr>
        <p:spPr>
          <a:xfrm>
            <a:off x="640080" y="4279392"/>
            <a:ext cx="292608" cy="292608"/>
          </a:xfrm>
          <a:prstGeom prst="ellipse">
            <a:avLst/>
          </a:prstGeom>
          <a:solidFill>
            <a:srgbClr val="3DDC97"/>
          </a:solidFill>
          <a:ln w="12700">
            <a:solidFill>
              <a:srgbClr val="3DDC97"/>
            </a:solidFill>
            <a:prstDash val="solid"/>
          </a:ln>
        </p:spPr>
      </p:sp>
      <p:sp>
        <p:nvSpPr>
          <p:cNvPr id="13" name="Text 11"/>
          <p:cNvSpPr txBox="1"/>
          <p:nvPr/>
        </p:nvSpPr>
        <p:spPr>
          <a:xfrm>
            <a:off x="640080" y="4279392"/>
            <a:ext cx="292608" cy="292608"/>
          </a:xfrm>
          <a:prstGeom prst="rect">
            <a:avLst/>
          </a:prstGeom>
          <a:noFill/>
          <a:ln/>
        </p:spPr>
        <p:txBody>
          <a:bodyPr wrap="square" lIns="0" tIns="0" rIns="0" bIns="0" rtlCol="0" anchor="ctr"/>
          <a:lstStyle/>
          <a:p>
            <a:pPr algn="ctr" indent="0" marL="0">
              <a:buNone/>
            </a:pPr>
            <a:r>
              <a:rPr lang="en-US" sz="1300" b="1" dirty="0">
                <a:solidFill>
                  <a:srgbClr val="0F1115"/>
                </a:solidFill>
              </a:rPr>
              <a:t>✓</a:t>
            </a:r>
            <a:endParaRPr lang="en-US" sz="1300" dirty="0"/>
          </a:p>
        </p:txBody>
      </p:sp>
      <p:sp>
        <p:nvSpPr>
          <p:cNvPr id="14" name="Text 12"/>
          <p:cNvSpPr txBox="1"/>
          <p:nvPr/>
        </p:nvSpPr>
        <p:spPr>
          <a:xfrm>
            <a:off x="1051560" y="4242816"/>
            <a:ext cx="5029200" cy="365760"/>
          </a:xfrm>
          <a:prstGeom prst="rect">
            <a:avLst/>
          </a:prstGeom>
          <a:noFill/>
          <a:ln/>
        </p:spPr>
        <p:txBody>
          <a:bodyPr wrap="square" lIns="0" tIns="0" rIns="0" bIns="0" rtlCol="0" anchor="ctr"/>
          <a:lstStyle/>
          <a:p>
            <a:pPr indent="0" marL="0">
              <a:buNone/>
            </a:pPr>
            <a:r>
              <a:rPr lang="en-US" sz="1300" dirty="0">
                <a:solidFill>
                  <a:srgbClr val="E6E9EF"/>
                </a:solidFill>
              </a:rPr>
              <a:t>must define check_ functions</a:t>
            </a:r>
            <a:endParaRPr lang="en-US" sz="1300" dirty="0"/>
          </a:p>
        </p:txBody>
      </p:sp>
      <p:sp>
        <p:nvSpPr>
          <p:cNvPr id="15" name="badge-✓"/>
          <p:cNvSpPr/>
          <p:nvPr/>
        </p:nvSpPr>
        <p:spPr>
          <a:xfrm>
            <a:off x="6217920" y="4279392"/>
            <a:ext cx="292608" cy="292608"/>
          </a:xfrm>
          <a:prstGeom prst="ellipse">
            <a:avLst/>
          </a:prstGeom>
          <a:solidFill>
            <a:srgbClr val="3DDC97"/>
          </a:solidFill>
          <a:ln w="12700">
            <a:solidFill>
              <a:srgbClr val="3DDC97"/>
            </a:solidFill>
            <a:prstDash val="solid"/>
          </a:ln>
        </p:spPr>
      </p:sp>
      <p:sp>
        <p:nvSpPr>
          <p:cNvPr id="16" name="Text 14"/>
          <p:cNvSpPr txBox="1"/>
          <p:nvPr/>
        </p:nvSpPr>
        <p:spPr>
          <a:xfrm>
            <a:off x="6217920" y="4279392"/>
            <a:ext cx="292608" cy="292608"/>
          </a:xfrm>
          <a:prstGeom prst="rect">
            <a:avLst/>
          </a:prstGeom>
          <a:noFill/>
          <a:ln/>
        </p:spPr>
        <p:txBody>
          <a:bodyPr wrap="square" lIns="0" tIns="0" rIns="0" bIns="0" rtlCol="0" anchor="ctr"/>
          <a:lstStyle/>
          <a:p>
            <a:pPr algn="ctr" indent="0" marL="0">
              <a:buNone/>
            </a:pPr>
            <a:r>
              <a:rPr lang="en-US" sz="1300" b="1" dirty="0">
                <a:solidFill>
                  <a:srgbClr val="0F1115"/>
                </a:solidFill>
              </a:rPr>
              <a:t>✓</a:t>
            </a:r>
            <a:endParaRPr lang="en-US" sz="1300" dirty="0"/>
          </a:p>
        </p:txBody>
      </p:sp>
      <p:sp>
        <p:nvSpPr>
          <p:cNvPr id="17" name="Text 15"/>
          <p:cNvSpPr txBox="1"/>
          <p:nvPr/>
        </p:nvSpPr>
        <p:spPr>
          <a:xfrm>
            <a:off x="6629400" y="4242816"/>
            <a:ext cx="5029200" cy="365760"/>
          </a:xfrm>
          <a:prstGeom prst="rect">
            <a:avLst/>
          </a:prstGeom>
          <a:noFill/>
          <a:ln/>
        </p:spPr>
        <p:txBody>
          <a:bodyPr wrap="square" lIns="0" tIns="0" rIns="0" bIns="0" rtlCol="0" anchor="ctr"/>
          <a:lstStyle/>
          <a:p>
            <a:pPr indent="0" marL="0">
              <a:buNone/>
            </a:pPr>
            <a:r>
              <a:rPr lang="en-US" sz="1300" dirty="0">
                <a:solidFill>
                  <a:srgbClr val="E6E9EF"/>
                </a:solidFill>
              </a:rPr>
              <a:t>must call the declared entry point</a:t>
            </a:r>
            <a:endParaRPr lang="en-US" sz="1300" dirty="0"/>
          </a:p>
        </p:txBody>
      </p:sp>
      <p:sp>
        <p:nvSpPr>
          <p:cNvPr id="18" name="badge-✓"/>
          <p:cNvSpPr/>
          <p:nvPr/>
        </p:nvSpPr>
        <p:spPr>
          <a:xfrm>
            <a:off x="640080" y="4754880"/>
            <a:ext cx="292608" cy="292608"/>
          </a:xfrm>
          <a:prstGeom prst="ellipse">
            <a:avLst/>
          </a:prstGeom>
          <a:solidFill>
            <a:srgbClr val="3DDC97"/>
          </a:solidFill>
          <a:ln w="12700">
            <a:solidFill>
              <a:srgbClr val="3DDC97"/>
            </a:solidFill>
            <a:prstDash val="solid"/>
          </a:ln>
        </p:spPr>
      </p:sp>
      <p:sp>
        <p:nvSpPr>
          <p:cNvPr id="19" name="Text 17"/>
          <p:cNvSpPr txBox="1"/>
          <p:nvPr/>
        </p:nvSpPr>
        <p:spPr>
          <a:xfrm>
            <a:off x="640080" y="4754880"/>
            <a:ext cx="292608" cy="292608"/>
          </a:xfrm>
          <a:prstGeom prst="rect">
            <a:avLst/>
          </a:prstGeom>
          <a:noFill/>
          <a:ln/>
        </p:spPr>
        <p:txBody>
          <a:bodyPr wrap="square" lIns="0" tIns="0" rIns="0" bIns="0" rtlCol="0" anchor="ctr"/>
          <a:lstStyle/>
          <a:p>
            <a:pPr algn="ctr" indent="0" marL="0">
              <a:buNone/>
            </a:pPr>
            <a:r>
              <a:rPr lang="en-US" sz="1300" b="1" dirty="0">
                <a:solidFill>
                  <a:srgbClr val="0F1115"/>
                </a:solidFill>
              </a:rPr>
              <a:t>✓</a:t>
            </a:r>
            <a:endParaRPr lang="en-US" sz="1300" dirty="0"/>
          </a:p>
        </p:txBody>
      </p:sp>
      <p:sp>
        <p:nvSpPr>
          <p:cNvPr id="20" name="Text 18"/>
          <p:cNvSpPr txBox="1"/>
          <p:nvPr/>
        </p:nvSpPr>
        <p:spPr>
          <a:xfrm>
            <a:off x="1051560" y="4718304"/>
            <a:ext cx="5029200" cy="365760"/>
          </a:xfrm>
          <a:prstGeom prst="rect">
            <a:avLst/>
          </a:prstGeom>
          <a:noFill/>
          <a:ln/>
        </p:spPr>
        <p:txBody>
          <a:bodyPr wrap="square" lIns="0" tIns="0" rIns="0" bIns="0" rtlCol="0" anchor="ctr"/>
          <a:lstStyle/>
          <a:p>
            <a:pPr indent="0" marL="0">
              <a:buNone/>
            </a:pPr>
            <a:r>
              <a:rPr lang="en-US" sz="1300" dirty="0">
                <a:solidFill>
                  <a:srgbClr val="E6E9EF"/>
                </a:solidFill>
              </a:rPr>
              <a:t>must be valid Python</a:t>
            </a:r>
            <a:endParaRPr lang="en-US" sz="1300" dirty="0"/>
          </a:p>
        </p:txBody>
      </p:sp>
      <p:sp>
        <p:nvSpPr>
          <p:cNvPr id="21" name="badge-✓"/>
          <p:cNvSpPr/>
          <p:nvPr/>
        </p:nvSpPr>
        <p:spPr>
          <a:xfrm>
            <a:off x="6217920" y="4754880"/>
            <a:ext cx="292608" cy="292608"/>
          </a:xfrm>
          <a:prstGeom prst="ellipse">
            <a:avLst/>
          </a:prstGeom>
          <a:solidFill>
            <a:srgbClr val="3DDC97"/>
          </a:solidFill>
          <a:ln w="12700">
            <a:solidFill>
              <a:srgbClr val="3DDC97"/>
            </a:solidFill>
            <a:prstDash val="solid"/>
          </a:ln>
        </p:spPr>
      </p:sp>
      <p:sp>
        <p:nvSpPr>
          <p:cNvPr id="22" name="Text 20"/>
          <p:cNvSpPr txBox="1"/>
          <p:nvPr/>
        </p:nvSpPr>
        <p:spPr>
          <a:xfrm>
            <a:off x="6217920" y="4754880"/>
            <a:ext cx="292608" cy="292608"/>
          </a:xfrm>
          <a:prstGeom prst="rect">
            <a:avLst/>
          </a:prstGeom>
          <a:noFill/>
          <a:ln/>
        </p:spPr>
        <p:txBody>
          <a:bodyPr wrap="square" lIns="0" tIns="0" rIns="0" bIns="0" rtlCol="0" anchor="ctr"/>
          <a:lstStyle/>
          <a:p>
            <a:pPr algn="ctr" indent="0" marL="0">
              <a:buNone/>
            </a:pPr>
            <a:r>
              <a:rPr lang="en-US" sz="1300" b="1" dirty="0">
                <a:solidFill>
                  <a:srgbClr val="0F1115"/>
                </a:solidFill>
              </a:rPr>
              <a:t>✓</a:t>
            </a:r>
            <a:endParaRPr lang="en-US" sz="1300" dirty="0"/>
          </a:p>
        </p:txBody>
      </p:sp>
      <p:sp>
        <p:nvSpPr>
          <p:cNvPr id="23" name="Text 21"/>
          <p:cNvSpPr txBox="1"/>
          <p:nvPr/>
        </p:nvSpPr>
        <p:spPr>
          <a:xfrm>
            <a:off x="6629400" y="4718304"/>
            <a:ext cx="5029200" cy="365760"/>
          </a:xfrm>
          <a:prstGeom prst="rect">
            <a:avLst/>
          </a:prstGeom>
          <a:noFill/>
          <a:ln/>
        </p:spPr>
        <p:txBody>
          <a:bodyPr wrap="square" lIns="0" tIns="0" rIns="0" bIns="0" rtlCol="0" anchor="ctr"/>
          <a:lstStyle/>
          <a:p>
            <a:pPr indent="0" marL="0">
              <a:buNone/>
            </a:pPr>
            <a:r>
              <a:rPr lang="en-US" sz="1300" dirty="0">
                <a:solidFill>
                  <a:srgbClr val="E6E9EF"/>
                </a:solidFill>
              </a:rPr>
              <a:t>standard-library imports only, from an allowlist</a:t>
            </a:r>
            <a:endParaRPr lang="en-US" sz="1300" dirty="0"/>
          </a:p>
        </p:txBody>
      </p:sp>
      <p:sp>
        <p:nvSpPr>
          <p:cNvPr id="24" name="Text 22"/>
          <p:cNvSpPr txBox="1"/>
          <p:nvPr/>
        </p:nvSpPr>
        <p:spPr>
          <a:xfrm>
            <a:off x="640080" y="5349240"/>
            <a:ext cx="10881360" cy="365760"/>
          </a:xfrm>
          <a:prstGeom prst="rect">
            <a:avLst/>
          </a:prstGeom>
          <a:noFill/>
          <a:ln/>
        </p:spPr>
        <p:txBody>
          <a:bodyPr wrap="square" lIns="0" tIns="0" rIns="0" bIns="0" rtlCol="0" anchor="ctr"/>
          <a:lstStyle/>
          <a:p>
            <a:pPr indent="0" marL="0">
              <a:buNone/>
            </a:pPr>
            <a:r>
              <a:rPr lang="en-US" sz="1300" i="1" dirty="0">
                <a:solidFill>
                  <a:srgbClr val="8B93A7"/>
                </a:solidFill>
              </a:rPr>
              <a:t>random and time are excluded deliberately — a non-deterministic test destroys the refinement signal.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Chirag Attri · 23BCS024</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Tools validate. The LLM only advises</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5B9DFF"/>
                </a:solidFill>
              </a:rPr>
              <a:t>RESEARCH QUESTION 3</a:t>
            </a:r>
            <a:endParaRPr lang="en-US" sz="1100" dirty="0"/>
          </a:p>
        </p:txBody>
      </p:sp>
      <p:sp>
        <p:nvSpPr>
          <p:cNvPr id="5" name="tool"/>
          <p:cNvSpPr/>
          <p:nvPr/>
        </p:nvSpPr>
        <p:spPr>
          <a:xfrm>
            <a:off x="640080" y="1783080"/>
            <a:ext cx="5303520" cy="2148840"/>
          </a:xfrm>
          <a:prstGeom prst="roundRect">
            <a:avLst>
              <a:gd name="adj" fmla="val 2553"/>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914400" y="1965960"/>
            <a:ext cx="4754880" cy="365760"/>
          </a:xfrm>
          <a:prstGeom prst="rect">
            <a:avLst/>
          </a:prstGeom>
          <a:noFill/>
          <a:ln/>
        </p:spPr>
        <p:txBody>
          <a:bodyPr wrap="square" lIns="0" tIns="0" rIns="0" bIns="0" rtlCol="0" anchor="ctr"/>
          <a:lstStyle/>
          <a:p>
            <a:pPr indent="0" marL="0">
              <a:buNone/>
            </a:pPr>
            <a:r>
              <a:rPr lang="en-US" sz="1800" b="1" dirty="0">
                <a:solidFill>
                  <a:srgbClr val="3DDC97"/>
                </a:solidFill>
                <a:latin typeface="Consolas" pitchFamily="34" charset="0"/>
                <a:ea typeface="Consolas" pitchFamily="34" charset="-122"/>
                <a:cs typeface="Consolas" pitchFamily="34" charset="-120"/>
              </a:rPr>
              <a:t>python_exec</a:t>
            </a:r>
            <a:endParaRPr lang="en-US" sz="1800" dirty="0"/>
          </a:p>
        </p:txBody>
      </p:sp>
      <p:sp>
        <p:nvSpPr>
          <p:cNvPr id="7" name="Text 5"/>
          <p:cNvSpPr txBox="1"/>
          <p:nvPr/>
        </p:nvSpPr>
        <p:spPr>
          <a:xfrm>
            <a:off x="914400" y="2377440"/>
            <a:ext cx="4754880" cy="1097280"/>
          </a:xfrm>
          <a:prstGeom prst="rect">
            <a:avLst/>
          </a:prstGeom>
          <a:noFill/>
          <a:ln/>
        </p:spPr>
        <p:txBody>
          <a:bodyPr wrap="square" lIns="0" tIns="0" rIns="0" bIns="0" rtlCol="0" anchor="ctr"/>
          <a:lstStyle/>
          <a:p>
            <a:pPr indent="0" marL="0">
              <a:buNone/>
            </a:pPr>
            <a:r>
              <a:rPr lang="en-US" sz="1300" dirty="0">
                <a:solidFill>
                  <a:srgbClr val="E6E9EF"/>
                </a:solidFill>
              </a:rPr>
              <a:t>Runs the program in a sandboxed subprocess and reports which named tests failed. Contains no LLM. Graded: 0.75 means three of four.</a:t>
            </a:r>
            <a:endParaRPr lang="en-US" sz="1300" dirty="0"/>
          </a:p>
        </p:txBody>
      </p:sp>
      <p:sp>
        <p:nvSpPr>
          <p:cNvPr id="8" name="Text 6"/>
          <p:cNvSpPr txBox="1"/>
          <p:nvPr/>
        </p:nvSpPr>
        <p:spPr>
          <a:xfrm>
            <a:off x="914400" y="3520440"/>
            <a:ext cx="4754880" cy="274320"/>
          </a:xfrm>
          <a:prstGeom prst="rect">
            <a:avLst/>
          </a:prstGeom>
          <a:noFill/>
          <a:ln/>
        </p:spPr>
        <p:txBody>
          <a:bodyPr wrap="square" lIns="0" tIns="0" rIns="0" bIns="0" rtlCol="0" anchor="ctr"/>
          <a:lstStyle/>
          <a:p>
            <a:pPr indent="0" marL="0">
              <a:buNone/>
            </a:pPr>
            <a:r>
              <a:rPr lang="en-US" sz="1100" b="1" spc="150" kern="0" dirty="0">
                <a:solidFill>
                  <a:srgbClr val="3DDC97"/>
                </a:solidFill>
              </a:rPr>
              <a:t>OBJECTIVE</a:t>
            </a:r>
            <a:endParaRPr lang="en-US" sz="1100" dirty="0"/>
          </a:p>
        </p:txBody>
      </p:sp>
      <p:sp>
        <p:nvSpPr>
          <p:cNvPr id="9" name="critic"/>
          <p:cNvSpPr/>
          <p:nvPr/>
        </p:nvSpPr>
        <p:spPr>
          <a:xfrm>
            <a:off x="6217920" y="1783080"/>
            <a:ext cx="5303520" cy="2148840"/>
          </a:xfrm>
          <a:prstGeom prst="roundRect">
            <a:avLst>
              <a:gd name="adj" fmla="val 2553"/>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0" name="Text 8"/>
          <p:cNvSpPr txBox="1"/>
          <p:nvPr/>
        </p:nvSpPr>
        <p:spPr>
          <a:xfrm>
            <a:off x="6492240" y="1965960"/>
            <a:ext cx="4754880" cy="365760"/>
          </a:xfrm>
          <a:prstGeom prst="rect">
            <a:avLst/>
          </a:prstGeom>
          <a:noFill/>
          <a:ln/>
        </p:spPr>
        <p:txBody>
          <a:bodyPr wrap="square" lIns="0" tIns="0" rIns="0" bIns="0" rtlCol="0" anchor="ctr"/>
          <a:lstStyle/>
          <a:p>
            <a:pPr indent="0" marL="0">
              <a:buNone/>
            </a:pPr>
            <a:r>
              <a:rPr lang="en-US" sz="1800" b="1" dirty="0">
                <a:solidFill>
                  <a:srgbClr val="F0B429"/>
                </a:solidFill>
                <a:latin typeface="Consolas" pitchFamily="34" charset="0"/>
                <a:ea typeface="Consolas" pitchFamily="34" charset="-122"/>
                <a:cs typeface="Consolas" pitchFamily="34" charset="-120"/>
              </a:rPr>
              <a:t>llm_critic</a:t>
            </a:r>
            <a:endParaRPr lang="en-US" sz="1800" dirty="0"/>
          </a:p>
        </p:txBody>
      </p:sp>
      <p:sp>
        <p:nvSpPr>
          <p:cNvPr id="11" name="Text 9"/>
          <p:cNvSpPr txBox="1"/>
          <p:nvPr/>
        </p:nvSpPr>
        <p:spPr>
          <a:xfrm>
            <a:off x="6492240" y="2377440"/>
            <a:ext cx="4754880" cy="1097280"/>
          </a:xfrm>
          <a:prstGeom prst="rect">
            <a:avLst/>
          </a:prstGeom>
          <a:noFill/>
          <a:ln/>
        </p:spPr>
        <p:txBody>
          <a:bodyPr wrap="square" lIns="0" tIns="0" rIns="0" bIns="0" rtlCol="0" anchor="ctr"/>
          <a:lstStyle/>
          <a:p>
            <a:pPr indent="0" marL="0">
              <a:buNone/>
            </a:pPr>
            <a:r>
              <a:rPr lang="en-US" sz="1300" dirty="0">
                <a:solidFill>
                  <a:srgbClr val="E6E9EF"/>
                </a:solidFill>
              </a:rPr>
              <a:t>An opinion. Recorded in the trace and shown in the interface, but never allowed to decide. Its disagreements with the tool are the data.</a:t>
            </a:r>
            <a:endParaRPr lang="en-US" sz="1300" dirty="0"/>
          </a:p>
        </p:txBody>
      </p:sp>
      <p:sp>
        <p:nvSpPr>
          <p:cNvPr id="12" name="Text 10"/>
          <p:cNvSpPr txBox="1"/>
          <p:nvPr/>
        </p:nvSpPr>
        <p:spPr>
          <a:xfrm>
            <a:off x="6492240" y="3520440"/>
            <a:ext cx="4754880" cy="274320"/>
          </a:xfrm>
          <a:prstGeom prst="rect">
            <a:avLst/>
          </a:prstGeom>
          <a:noFill/>
          <a:ln/>
        </p:spPr>
        <p:txBody>
          <a:bodyPr wrap="square" lIns="0" tIns="0" rIns="0" bIns="0" rtlCol="0" anchor="ctr"/>
          <a:lstStyle/>
          <a:p>
            <a:pPr indent="0" marL="0">
              <a:buNone/>
            </a:pPr>
            <a:r>
              <a:rPr lang="en-US" sz="1100" b="1" spc="150" kern="0" dirty="0">
                <a:solidFill>
                  <a:srgbClr val="F0B429"/>
                </a:solidFill>
              </a:rPr>
              <a:t>SUBJECTIVE</a:t>
            </a:r>
            <a:endParaRPr lang="en-US" sz="1100" dirty="0"/>
          </a:p>
        </p:txBody>
      </p:sp>
      <p:sp>
        <p:nvSpPr>
          <p:cNvPr id="13" name="fa"/>
          <p:cNvSpPr/>
          <p:nvPr/>
        </p:nvSpPr>
        <p:spPr>
          <a:xfrm>
            <a:off x="640080" y="4206240"/>
            <a:ext cx="10881360"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4" name="Text 12"/>
          <p:cNvSpPr txBox="1"/>
          <p:nvPr/>
        </p:nvSpPr>
        <p:spPr>
          <a:xfrm>
            <a:off x="960120" y="4370832"/>
            <a:ext cx="10241280" cy="292608"/>
          </a:xfrm>
          <a:prstGeom prst="rect">
            <a:avLst/>
          </a:prstGeom>
          <a:noFill/>
          <a:ln/>
        </p:spPr>
        <p:txBody>
          <a:bodyPr wrap="square" lIns="0" tIns="0" rIns="0" bIns="0" rtlCol="0" anchor="ctr"/>
          <a:lstStyle/>
          <a:p>
            <a:pPr indent="0" marL="0">
              <a:buNone/>
            </a:pPr>
            <a:r>
              <a:rPr lang="en-US" sz="1200" spc="120" kern="0" dirty="0">
                <a:solidFill>
                  <a:srgbClr val="8B93A7"/>
                </a:solidFill>
              </a:rPr>
              <a:t>Observed live, on the deployed system</a:t>
            </a:r>
            <a:endParaRPr lang="en-US" sz="1200" dirty="0"/>
          </a:p>
        </p:txBody>
      </p:sp>
      <p:sp>
        <p:nvSpPr>
          <p:cNvPr id="15" name="Text 13"/>
          <p:cNvSpPr txBox="1"/>
          <p:nvPr/>
        </p:nvSpPr>
        <p:spPr>
          <a:xfrm>
            <a:off x="960120" y="4681728"/>
            <a:ext cx="10241280" cy="411480"/>
          </a:xfrm>
          <a:prstGeom prst="rect">
            <a:avLst/>
          </a:prstGeom>
          <a:noFill/>
          <a:ln/>
        </p:spPr>
        <p:txBody>
          <a:bodyPr wrap="square" lIns="0" tIns="0" rIns="0" bIns="0" rtlCol="0" anchor="ctr"/>
          <a:lstStyle/>
          <a:p>
            <a:pPr indent="0" marL="0">
              <a:buNone/>
            </a:pPr>
            <a:r>
              <a:rPr lang="en-US" sz="1700" b="1" dirty="0">
                <a:solidFill>
                  <a:srgbClr val="F0B429"/>
                </a:solidFill>
                <a:latin typeface="Consolas" pitchFamily="34" charset="0"/>
                <a:ea typeface="Consolas" pitchFamily="34" charset="-122"/>
                <a:cs typeface="Consolas" pitchFamily="34" charset="-120"/>
              </a:rPr>
              <a:t>python_exec  score = 0.75  →  FAILED</a:t>
            </a:r>
            <a:pPr indent="0" marL="0">
              <a:buNone/>
            </a:pPr>
            <a:r>
              <a:rPr lang="en-US" sz="1700" dirty="0">
                <a:solidFill>
                  <a:srgbClr val="8B93A7"/>
                </a:solidFill>
                <a:latin typeface="Consolas" pitchFamily="34" charset="0"/>
                <a:ea typeface="Consolas" pitchFamily="34" charset="-122"/>
                <a:cs typeface="Consolas" pitchFamily="34" charset="-120"/>
              </a:rPr>
              <a:t>          </a:t>
            </a:r>
            <a:pPr indent="0" marL="0">
              <a:buNone/>
            </a:pPr>
            <a:r>
              <a:rPr lang="en-US" sz="1700" b="1" dirty="0">
                <a:solidFill>
                  <a:srgbClr val="FF6B6B"/>
                </a:solidFill>
                <a:latin typeface="Consolas" pitchFamily="34" charset="0"/>
                <a:ea typeface="Consolas" pitchFamily="34" charset="-122"/>
                <a:cs typeface="Consolas" pitchFamily="34" charset="-120"/>
              </a:rPr>
              <a:t>llm_critic  →  "passed"</a:t>
            </a:r>
            <a:endParaRPr lang="en-US" sz="1700" dirty="0"/>
          </a:p>
        </p:txBody>
      </p:sp>
      <p:sp>
        <p:nvSpPr>
          <p:cNvPr id="16" name="Text 14"/>
          <p:cNvSpPr txBox="1"/>
          <p:nvPr/>
        </p:nvSpPr>
        <p:spPr>
          <a:xfrm>
            <a:off x="960120" y="5102352"/>
            <a:ext cx="10241280" cy="320040"/>
          </a:xfrm>
          <a:prstGeom prst="rect">
            <a:avLst/>
          </a:prstGeom>
          <a:noFill/>
          <a:ln/>
        </p:spPr>
        <p:txBody>
          <a:bodyPr wrap="square" lIns="0" tIns="0" rIns="0" bIns="0" rtlCol="0" anchor="ctr"/>
          <a:lstStyle/>
          <a:p>
            <a:pPr indent="0" marL="0">
              <a:buNone/>
            </a:pPr>
            <a:r>
              <a:rPr lang="en-US" sz="1300" i="1" dirty="0">
                <a:solidFill>
                  <a:srgbClr val="E6E9EF"/>
                </a:solidFill>
              </a:rPr>
              <a:t>A false accept. The interface flags it. Counting how often this happens is research question 3.</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Chirag Attri · 23BCS024</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The limitation we state ourselves</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5B9DFF"/>
                </a:solidFill>
              </a:rPr>
              <a:t>HONESTY</a:t>
            </a:r>
            <a:endParaRPr lang="en-US" sz="1100" dirty="0"/>
          </a:p>
        </p:txBody>
      </p:sp>
      <p:sp>
        <p:nvSpPr>
          <p:cNvPr id="5" name="limit"/>
          <p:cNvSpPr/>
          <p:nvPr/>
        </p:nvSpPr>
        <p:spPr>
          <a:xfrm>
            <a:off x="640080" y="1783080"/>
            <a:ext cx="10881360" cy="1325880"/>
          </a:xfrm>
          <a:prstGeom prst="roundRect">
            <a:avLst>
              <a:gd name="adj" fmla="val 4138"/>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960120" y="2011680"/>
            <a:ext cx="10241280" cy="822960"/>
          </a:xfrm>
          <a:prstGeom prst="rect">
            <a:avLst/>
          </a:prstGeom>
          <a:noFill/>
          <a:ln/>
        </p:spPr>
        <p:txBody>
          <a:bodyPr wrap="square" lIns="0" tIns="0" rIns="0" bIns="0" rtlCol="0" anchor="ctr"/>
          <a:lstStyle/>
          <a:p>
            <a:pPr indent="0" marL="0">
              <a:buNone/>
            </a:pPr>
            <a:r>
              <a:rPr lang="en-US" sz="1900" b="1" dirty="0">
                <a:solidFill>
                  <a:srgbClr val="F0B429"/>
                </a:solidFill>
              </a:rPr>
              <a:t>Tests written by a model are not ground truth. A wrong test makes a correct solution look broken.</a:t>
            </a:r>
            <a:endParaRPr lang="en-US" sz="1900" dirty="0"/>
          </a:p>
        </p:txBody>
      </p:sp>
      <p:sp>
        <p:nvSpPr>
          <p:cNvPr id="7" name="sep-0"/>
          <p:cNvSpPr/>
          <p:nvPr/>
        </p:nvSpPr>
        <p:spPr>
          <a:xfrm>
            <a:off x="640080" y="3337560"/>
            <a:ext cx="34381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8" name="Text 6"/>
          <p:cNvSpPr txBox="1"/>
          <p:nvPr/>
        </p:nvSpPr>
        <p:spPr>
          <a:xfrm>
            <a:off x="896112" y="3520440"/>
            <a:ext cx="2926080" cy="411480"/>
          </a:xfrm>
          <a:prstGeom prst="rect">
            <a:avLst/>
          </a:prstGeom>
          <a:noFill/>
          <a:ln/>
        </p:spPr>
        <p:txBody>
          <a:bodyPr wrap="square" lIns="0" tIns="0" rIns="0" bIns="0" rtlCol="0" anchor="ctr"/>
          <a:lstStyle/>
          <a:p>
            <a:pPr indent="0" marL="0">
              <a:buNone/>
            </a:pPr>
            <a:r>
              <a:rPr lang="en-US" sz="1400" b="1" dirty="0">
                <a:solidFill>
                  <a:srgbClr val="FFFFFF"/>
                </a:solidFill>
              </a:rPr>
              <a:t>Live tasks typed at the demo</a:t>
            </a:r>
            <a:endParaRPr lang="en-US" sz="1400" dirty="0"/>
          </a:p>
        </p:txBody>
      </p:sp>
      <p:sp>
        <p:nvSpPr>
          <p:cNvPr id="9" name="Text 7"/>
          <p:cNvSpPr txBox="1"/>
          <p:nvPr/>
        </p:nvSpPr>
        <p:spPr>
          <a:xfrm>
            <a:off x="896112" y="3950208"/>
            <a:ext cx="2926080" cy="640080"/>
          </a:xfrm>
          <a:prstGeom prst="rect">
            <a:avLst/>
          </a:prstGeom>
          <a:noFill/>
          <a:ln/>
        </p:spPr>
        <p:txBody>
          <a:bodyPr wrap="square" lIns="0" tIns="0" rIns="0" bIns="0" rtlCol="0" anchor="ctr"/>
          <a:lstStyle/>
          <a:p>
            <a:pPr indent="0" marL="0">
              <a:buNone/>
            </a:pPr>
            <a:r>
              <a:rPr lang="en-US" sz="1300" dirty="0">
                <a:solidFill>
                  <a:srgbClr val="3DDC97"/>
                </a:solidFill>
              </a:rPr>
              <a:t>use model-written tests</a:t>
            </a:r>
            <a:endParaRPr lang="en-US" sz="1300" dirty="0"/>
          </a:p>
        </p:txBody>
      </p:sp>
      <p:sp>
        <p:nvSpPr>
          <p:cNvPr id="10" name="sep-1"/>
          <p:cNvSpPr/>
          <p:nvPr/>
        </p:nvSpPr>
        <p:spPr>
          <a:xfrm>
            <a:off x="4370832" y="3337560"/>
            <a:ext cx="34381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4626864" y="3520440"/>
            <a:ext cx="2926080" cy="411480"/>
          </a:xfrm>
          <a:prstGeom prst="rect">
            <a:avLst/>
          </a:prstGeom>
          <a:noFill/>
          <a:ln/>
        </p:spPr>
        <p:txBody>
          <a:bodyPr wrap="square" lIns="0" tIns="0" rIns="0" bIns="0" rtlCol="0" anchor="ctr"/>
          <a:lstStyle/>
          <a:p>
            <a:pPr indent="0" marL="0">
              <a:buNone/>
            </a:pPr>
            <a:r>
              <a:rPr lang="en-US" sz="1400" b="1" dirty="0">
                <a:solidFill>
                  <a:srgbClr val="FFFFFF"/>
                </a:solidFill>
              </a:rPr>
              <a:t>All benchmark measurement</a:t>
            </a:r>
            <a:endParaRPr lang="en-US" sz="1400" dirty="0"/>
          </a:p>
        </p:txBody>
      </p:sp>
      <p:sp>
        <p:nvSpPr>
          <p:cNvPr id="12" name="Text 10"/>
          <p:cNvSpPr txBox="1"/>
          <p:nvPr/>
        </p:nvSpPr>
        <p:spPr>
          <a:xfrm>
            <a:off x="4626864" y="3950208"/>
            <a:ext cx="2926080" cy="640080"/>
          </a:xfrm>
          <a:prstGeom prst="rect">
            <a:avLst/>
          </a:prstGeom>
          <a:noFill/>
          <a:ln/>
        </p:spPr>
        <p:txBody>
          <a:bodyPr wrap="square" lIns="0" tIns="0" rIns="0" bIns="0" rtlCol="0" anchor="ctr"/>
          <a:lstStyle/>
          <a:p>
            <a:pPr indent="0" marL="0">
              <a:buNone/>
            </a:pPr>
            <a:r>
              <a:rPr lang="en-US" sz="1300" dirty="0">
                <a:solidFill>
                  <a:srgbClr val="5B9DFF"/>
                </a:solidFill>
              </a:rPr>
              <a:t>uses the dataset's own tests</a:t>
            </a:r>
            <a:endParaRPr lang="en-US" sz="1300" dirty="0"/>
          </a:p>
        </p:txBody>
      </p:sp>
      <p:sp>
        <p:nvSpPr>
          <p:cNvPr id="13" name="sep-2"/>
          <p:cNvSpPr/>
          <p:nvPr/>
        </p:nvSpPr>
        <p:spPr>
          <a:xfrm>
            <a:off x="8101584" y="3337560"/>
            <a:ext cx="3438144" cy="1371600"/>
          </a:xfrm>
          <a:prstGeom prst="roundRect">
            <a:avLst>
              <a:gd name="adj" fmla="val 40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4" name="Text 12"/>
          <p:cNvSpPr txBox="1"/>
          <p:nvPr/>
        </p:nvSpPr>
        <p:spPr>
          <a:xfrm>
            <a:off x="8357616" y="3520440"/>
            <a:ext cx="2926080" cy="411480"/>
          </a:xfrm>
          <a:prstGeom prst="rect">
            <a:avLst/>
          </a:prstGeom>
          <a:noFill/>
          <a:ln/>
        </p:spPr>
        <p:txBody>
          <a:bodyPr wrap="square" lIns="0" tIns="0" rIns="0" bIns="0" rtlCol="0" anchor="ctr"/>
          <a:lstStyle/>
          <a:p>
            <a:pPr indent="0" marL="0">
              <a:buNone/>
            </a:pPr>
            <a:r>
              <a:rPr lang="en-US" sz="1400" b="1" dirty="0">
                <a:solidFill>
                  <a:srgbClr val="FFFFFF"/>
                </a:solidFill>
              </a:rPr>
              <a:t>The two</a:t>
            </a:r>
            <a:endParaRPr lang="en-US" sz="1400" dirty="0"/>
          </a:p>
        </p:txBody>
      </p:sp>
      <p:sp>
        <p:nvSpPr>
          <p:cNvPr id="15" name="Text 13"/>
          <p:cNvSpPr txBox="1"/>
          <p:nvPr/>
        </p:nvSpPr>
        <p:spPr>
          <a:xfrm>
            <a:off x="8357616" y="3950208"/>
            <a:ext cx="2926080" cy="640080"/>
          </a:xfrm>
          <a:prstGeom prst="rect">
            <a:avLst/>
          </a:prstGeom>
          <a:noFill/>
          <a:ln/>
        </p:spPr>
        <p:txBody>
          <a:bodyPr wrap="square" lIns="0" tIns="0" rIns="0" bIns="0" rtlCol="0" anchor="ctr"/>
          <a:lstStyle/>
          <a:p>
            <a:pPr indent="0" marL="0">
              <a:buNone/>
            </a:pPr>
            <a:r>
              <a:rPr lang="en-US" sz="1300" dirty="0">
                <a:solidFill>
                  <a:srgbClr val="FF6B6B"/>
                </a:solidFill>
              </a:rPr>
              <a:t>are never mixed in results</a:t>
            </a:r>
            <a:endParaRPr lang="en-US" sz="1300" dirty="0"/>
          </a:p>
        </p:txBody>
      </p:sp>
      <p:sp>
        <p:nvSpPr>
          <p:cNvPr id="16" name="Text 14"/>
          <p:cNvSpPr txBox="1"/>
          <p:nvPr/>
        </p:nvSpPr>
        <p:spPr>
          <a:xfrm>
            <a:off x="640080" y="4983480"/>
            <a:ext cx="10881360" cy="731520"/>
          </a:xfrm>
          <a:prstGeom prst="rect">
            <a:avLst/>
          </a:prstGeom>
          <a:noFill/>
          <a:ln/>
        </p:spPr>
        <p:txBody>
          <a:bodyPr wrap="square" lIns="0" tIns="0" rIns="0" bIns="0" rtlCol="0" anchor="ctr"/>
          <a:lstStyle/>
          <a:p>
            <a:pPr indent="0" marL="0">
              <a:buNone/>
            </a:pPr>
            <a:r>
              <a:rPr lang="en-US" sz="1400" dirty="0">
                <a:solidFill>
                  <a:srgbClr val="E6E9EF"/>
                </a:solidFill>
              </a:rPr>
              <a:t>Saying this before we are asked is the point. A project whose output is a comparison table has to be able to tell "the system is wrong" from "the measurement is wrong".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adge-3"/>
          <p:cNvSpPr/>
          <p:nvPr/>
        </p:nvSpPr>
        <p:spPr>
          <a:xfrm>
            <a:off x="640080" y="2148840"/>
            <a:ext cx="475488" cy="475488"/>
          </a:xfrm>
          <a:prstGeom prst="ellipse">
            <a:avLst/>
          </a:prstGeom>
          <a:solidFill>
            <a:srgbClr val="F0B429"/>
          </a:solidFill>
          <a:ln w="12700">
            <a:solidFill>
              <a:srgbClr val="F0B429"/>
            </a:solidFill>
            <a:prstDash val="solid"/>
          </a:ln>
        </p:spPr>
      </p:sp>
      <p:sp>
        <p:nvSpPr>
          <p:cNvPr id="3" name="Text 1"/>
          <p:cNvSpPr txBox="1"/>
          <p:nvPr/>
        </p:nvSpPr>
        <p:spPr>
          <a:xfrm>
            <a:off x="640080" y="2148840"/>
            <a:ext cx="475488" cy="475488"/>
          </a:xfrm>
          <a:prstGeom prst="rect">
            <a:avLst/>
          </a:prstGeom>
          <a:noFill/>
          <a:ln/>
        </p:spPr>
        <p:txBody>
          <a:bodyPr wrap="square" lIns="0" tIns="0" rIns="0" bIns="0" rtlCol="0" anchor="ctr"/>
          <a:lstStyle/>
          <a:p>
            <a:pPr algn="ctr" indent="0" marL="0">
              <a:buNone/>
            </a:pPr>
            <a:r>
              <a:rPr lang="en-US" sz="1300" b="1" dirty="0">
                <a:solidFill>
                  <a:srgbClr val="0F1115"/>
                </a:solidFill>
              </a:rPr>
              <a:t>3</a:t>
            </a:r>
            <a:endParaRPr lang="en-US" sz="1300" dirty="0"/>
          </a:p>
        </p:txBody>
      </p:sp>
      <p:sp>
        <p:nvSpPr>
          <p:cNvPr id="4" name="Text 0"/>
          <p:cNvSpPr/>
          <p:nvPr>
            <p:ph idx="100" type="title" hasCustomPrompt="1"/>
          </p:nvPr>
        </p:nvSpPr>
        <p:spPr>
          <a:xfrm>
            <a:off x="640080" y="2743200"/>
            <a:ext cx="10881360" cy="914400"/>
          </a:xfrm>
          <a:prstGeom prst="rect">
            <a:avLst/>
          </a:prstGeom>
          <a:noFill/>
          <a:ln/>
        </p:spPr>
        <p:txBody>
          <a:bodyPr wrap="square" rtlCol="0"/>
          <a:lstStyle/>
          <a:p>
            <a:pPr algn="l" indent="0" marL="0">
              <a:buNone/>
            </a:pPr>
            <a:r>
              <a:rPr lang="en-US" sz="4000" b="1" dirty="0">
                <a:solidFill>
                  <a:srgbClr val="FFFFFF"/>
                </a:solidFill>
              </a:rPr>
              <a:t>The experiment</a:t>
            </a:r>
            <a:endParaRPr lang="en-US" sz="4000" dirty="0"/>
          </a:p>
        </p:txBody>
      </p:sp>
      <p:sp>
        <p:nvSpPr>
          <p:cNvPr id="5" name="Text 0"/>
          <p:cNvSpPr/>
          <p:nvPr>
            <p:ph idx="101" type="body" hasCustomPrompt="1"/>
          </p:nvPr>
        </p:nvSpPr>
        <p:spPr>
          <a:xfrm>
            <a:off x="640080" y="3703320"/>
            <a:ext cx="8229600" cy="1280160"/>
          </a:xfrm>
          <a:prstGeom prst="rect">
            <a:avLst/>
          </a:prstGeom>
          <a:noFill/>
          <a:ln/>
        </p:spPr>
        <p:txBody>
          <a:bodyPr wrap="square" rtlCol="0"/>
          <a:lstStyle/>
          <a:p>
            <a:pPr algn="l" indent="0" marL="0">
              <a:buNone/>
            </a:pPr>
            <a:r>
              <a:rPr lang="en-US" sz="1600" dirty="0">
                <a:solidFill>
                  <a:srgbClr val="8B93A7"/>
                </a:solidFill>
              </a:rPr>
              <a:t>What we are measuring, what we have measured so far, and what is still to come</a:t>
            </a:r>
            <a:endParaRPr lang="en-US" sz="1600" dirty="0"/>
          </a:p>
        </p:txBody>
      </p:sp>
      <p:sp>
        <p:nvSpPr>
          <p:cNvPr id="6" name="Text 4"/>
          <p:cNvSpPr txBox="1"/>
          <p:nvPr/>
        </p:nvSpPr>
        <p:spPr>
          <a:xfrm>
            <a:off x="640080" y="4572000"/>
            <a:ext cx="5486400" cy="274320"/>
          </a:xfrm>
          <a:prstGeom prst="rect">
            <a:avLst/>
          </a:prstGeom>
          <a:noFill/>
          <a:ln/>
        </p:spPr>
        <p:txBody>
          <a:bodyPr wrap="square" lIns="0" tIns="0" rIns="0" bIns="0" rtlCol="0" anchor="ctr"/>
          <a:lstStyle/>
          <a:p>
            <a:pPr indent="0" marL="0">
              <a:buNone/>
            </a:pPr>
            <a:r>
              <a:rPr lang="en-US" sz="1300" b="1" dirty="0">
                <a:solidFill>
                  <a:srgbClr val="F0B429"/>
                </a:solidFill>
              </a:rPr>
              <a:t>Aniket Kundal · 23BCS015</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Aniket Kundal · 23BCS015</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The question we are answering</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F0B429"/>
                </a:solidFill>
              </a:rPr>
              <a:t>RESEARCH OBJECTIVE</a:t>
            </a:r>
            <a:endParaRPr lang="en-US" sz="1100" dirty="0"/>
          </a:p>
        </p:txBody>
      </p:sp>
      <p:sp>
        <p:nvSpPr>
          <p:cNvPr id="5" name="q"/>
          <p:cNvSpPr/>
          <p:nvPr/>
        </p:nvSpPr>
        <p:spPr>
          <a:xfrm>
            <a:off x="640080" y="1737360"/>
            <a:ext cx="10881360" cy="1463040"/>
          </a:xfrm>
          <a:prstGeom prst="roundRect">
            <a:avLst>
              <a:gd name="adj" fmla="val 375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1005840" y="1920240"/>
            <a:ext cx="10149840" cy="1097280"/>
          </a:xfrm>
          <a:prstGeom prst="rect">
            <a:avLst/>
          </a:prstGeom>
          <a:noFill/>
          <a:ln/>
        </p:spPr>
        <p:txBody>
          <a:bodyPr wrap="square" lIns="0" tIns="0" rIns="0" bIns="0" rtlCol="0" anchor="ctr"/>
          <a:lstStyle/>
          <a:p>
            <a:pPr indent="0" marL="0">
              <a:buNone/>
            </a:pPr>
            <a:r>
              <a:rPr lang="en-US" sz="1900" b="1" dirty="0">
                <a:solidFill>
                  <a:srgbClr val="3DDC97"/>
                </a:solidFill>
              </a:rPr>
              <a:t>Under a matched token budget, does adaptive multi-agent refinement improve correctness over a single agent — and does the answer depend on how strong the automatic checker is?</a:t>
            </a:r>
            <a:endParaRPr lang="en-US" sz="1900" dirty="0"/>
          </a:p>
        </p:txBody>
      </p:sp>
      <p:sp>
        <p:nvSpPr>
          <p:cNvPr id="7" name="side-a"/>
          <p:cNvSpPr/>
          <p:nvPr/>
        </p:nvSpPr>
        <p:spPr>
          <a:xfrm>
            <a:off x="640080" y="3429000"/>
            <a:ext cx="5303520" cy="1600200"/>
          </a:xfrm>
          <a:prstGeom prst="roundRect">
            <a:avLst>
              <a:gd name="adj" fmla="val 3429"/>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8" name="Text 6"/>
          <p:cNvSpPr txBox="1"/>
          <p:nvPr/>
        </p:nvSpPr>
        <p:spPr>
          <a:xfrm>
            <a:off x="896112" y="3611880"/>
            <a:ext cx="4754880" cy="320040"/>
          </a:xfrm>
          <a:prstGeom prst="rect">
            <a:avLst/>
          </a:prstGeom>
          <a:noFill/>
          <a:ln/>
        </p:spPr>
        <p:txBody>
          <a:bodyPr wrap="square" lIns="0" tIns="0" rIns="0" bIns="0" rtlCol="0" anchor="ctr"/>
          <a:lstStyle/>
          <a:p>
            <a:pPr indent="0" marL="0">
              <a:buNone/>
            </a:pPr>
            <a:r>
              <a:rPr lang="en-US" sz="1400" b="1" dirty="0">
                <a:solidFill>
                  <a:srgbClr val="FFFFFF"/>
                </a:solidFill>
              </a:rPr>
              <a:t>One body of work says it helps</a:t>
            </a:r>
            <a:endParaRPr lang="en-US" sz="1400" dirty="0"/>
          </a:p>
        </p:txBody>
      </p:sp>
      <p:sp>
        <p:nvSpPr>
          <p:cNvPr id="9" name="Text 7"/>
          <p:cNvSpPr txBox="1"/>
          <p:nvPr/>
        </p:nvSpPr>
        <p:spPr>
          <a:xfrm>
            <a:off x="896112" y="3977640"/>
            <a:ext cx="4754880" cy="822960"/>
          </a:xfrm>
          <a:prstGeom prst="rect">
            <a:avLst/>
          </a:prstGeom>
          <a:noFill/>
          <a:ln/>
        </p:spPr>
        <p:txBody>
          <a:bodyPr wrap="square" lIns="0" tIns="0" rIns="0" bIns="0" rtlCol="0" anchor="ctr"/>
          <a:lstStyle/>
          <a:p>
            <a:pPr indent="0" marL="0">
              <a:buNone/>
            </a:pPr>
            <a:r>
              <a:rPr lang="en-US" sz="1300" dirty="0">
                <a:solidFill>
                  <a:srgbClr val="8B93A7"/>
                </a:solidFill>
              </a:rPr>
              <a:t>Self-Refine · Reflexion · AgentCoder · ChatDev · MetaGPT</a:t>
            </a:r>
            <a:endParaRPr lang="en-US" sz="1300" dirty="0"/>
          </a:p>
        </p:txBody>
      </p:sp>
      <p:sp>
        <p:nvSpPr>
          <p:cNvPr id="10" name="side-b"/>
          <p:cNvSpPr/>
          <p:nvPr/>
        </p:nvSpPr>
        <p:spPr>
          <a:xfrm>
            <a:off x="6217920" y="3429000"/>
            <a:ext cx="5303520" cy="1600200"/>
          </a:xfrm>
          <a:prstGeom prst="roundRect">
            <a:avLst>
              <a:gd name="adj" fmla="val 3429"/>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6473952" y="3611880"/>
            <a:ext cx="4754880" cy="320040"/>
          </a:xfrm>
          <a:prstGeom prst="rect">
            <a:avLst/>
          </a:prstGeom>
          <a:noFill/>
          <a:ln/>
        </p:spPr>
        <p:txBody>
          <a:bodyPr wrap="square" lIns="0" tIns="0" rIns="0" bIns="0" rtlCol="0" anchor="ctr"/>
          <a:lstStyle/>
          <a:p>
            <a:pPr indent="0" marL="0">
              <a:buNone/>
            </a:pPr>
            <a:r>
              <a:rPr lang="en-US" sz="1400" b="1" dirty="0">
                <a:solidFill>
                  <a:srgbClr val="FFFFFF"/>
                </a:solidFill>
              </a:rPr>
              <a:t>Another says it mostly does not</a:t>
            </a:r>
            <a:endParaRPr lang="en-US" sz="1400" dirty="0"/>
          </a:p>
        </p:txBody>
      </p:sp>
      <p:sp>
        <p:nvSpPr>
          <p:cNvPr id="12" name="Text 10"/>
          <p:cNvSpPr txBox="1"/>
          <p:nvPr/>
        </p:nvSpPr>
        <p:spPr>
          <a:xfrm>
            <a:off x="6473952" y="3977640"/>
            <a:ext cx="4754880" cy="822960"/>
          </a:xfrm>
          <a:prstGeom prst="rect">
            <a:avLst/>
          </a:prstGeom>
          <a:noFill/>
          <a:ln/>
        </p:spPr>
        <p:txBody>
          <a:bodyPr wrap="square" lIns="0" tIns="0" rIns="0" bIns="0" rtlCol="0" anchor="ctr"/>
          <a:lstStyle/>
          <a:p>
            <a:pPr indent="0" marL="0">
              <a:buNone/>
            </a:pPr>
            <a:r>
              <a:rPr lang="en-US" sz="1300" dirty="0">
                <a:solidFill>
                  <a:srgbClr val="8B93A7"/>
                </a:solidFill>
              </a:rPr>
              <a:t>Tran &amp; Kiela, 2025 — at equal thinking-token budget a single agent matches or beats multi-agent on reasoning</a:t>
            </a:r>
            <a:endParaRPr lang="en-US" sz="1300" dirty="0"/>
          </a:p>
        </p:txBody>
      </p:sp>
      <p:sp>
        <p:nvSpPr>
          <p:cNvPr id="13" name="Text 11"/>
          <p:cNvSpPr txBox="1"/>
          <p:nvPr/>
        </p:nvSpPr>
        <p:spPr>
          <a:xfrm>
            <a:off x="640080" y="5257800"/>
            <a:ext cx="10881360" cy="914400"/>
          </a:xfrm>
          <a:prstGeom prst="rect">
            <a:avLst/>
          </a:prstGeom>
          <a:noFill/>
          <a:ln/>
        </p:spPr>
        <p:txBody>
          <a:bodyPr wrap="square" lIns="0" tIns="0" rIns="0" bIns="0" rtlCol="0" anchor="ctr"/>
          <a:lstStyle/>
          <a:p>
            <a:pPr indent="0" marL="0">
              <a:buNone/>
            </a:pPr>
            <a:r>
              <a:rPr lang="en-US" sz="1400" b="1" dirty="0">
                <a:solidFill>
                  <a:srgbClr val="FFFFFF"/>
                </a:solidFill>
              </a:rPr>
              <a:t>We claim no novelty in the architecture. </a:t>
            </a:r>
            <a:pPr indent="0" marL="0">
              <a:buNone/>
            </a:pPr>
            <a:r>
              <a:rPr lang="en-US" sz="1400" dirty="0">
                <a:solidFill>
                  <a:srgbClr val="E6E9EF"/>
                </a:solidFill>
              </a:rPr>
              <a:t>Adaptive orchestration is a surveyed subfield. Our contribution is the measurement: these systems are justified on compute efficiency, and nobody has tested them under the protocol that measures compute efficiency.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Aniket Kundal · 23BCS015</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Five conditions, one engine</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F0B429"/>
                </a:solidFill>
              </a:rPr>
              <a:t>EXPERIMENTAL DESIGN</a:t>
            </a:r>
            <a:endParaRPr lang="en-US" sz="1100" dirty="0"/>
          </a:p>
        </p:txBody>
      </p:sp>
      <p:sp>
        <p:nvSpPr>
          <p:cNvPr id="5" name="cond-A"/>
          <p:cNvSpPr/>
          <p:nvPr/>
        </p:nvSpPr>
        <p:spPr>
          <a:xfrm>
            <a:off x="640080" y="1783080"/>
            <a:ext cx="10881360" cy="621792"/>
          </a:xfrm>
          <a:prstGeom prst="roundRect">
            <a:avLst>
              <a:gd name="adj" fmla="val 8824"/>
            </a:avLst>
          </a:prstGeom>
          <a:solidFill>
            <a:srgbClr val="0F1115"/>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68680" y="1783080"/>
            <a:ext cx="914400" cy="621792"/>
          </a:xfrm>
          <a:prstGeom prst="rect">
            <a:avLst/>
          </a:prstGeom>
          <a:noFill/>
          <a:ln/>
        </p:spPr>
        <p:txBody>
          <a:bodyPr wrap="square" lIns="0" tIns="0" rIns="0" bIns="0" rtlCol="0" anchor="ctr"/>
          <a:lstStyle/>
          <a:p>
            <a:pPr indent="0" marL="0">
              <a:buNone/>
            </a:pPr>
            <a:r>
              <a:rPr lang="en-US" sz="2000" b="1" dirty="0">
                <a:solidFill>
                  <a:srgbClr val="8B93A7"/>
                </a:solidFill>
              </a:rPr>
              <a:t>A</a:t>
            </a:r>
            <a:endParaRPr lang="en-US" sz="2000" dirty="0"/>
          </a:p>
        </p:txBody>
      </p:sp>
      <p:sp>
        <p:nvSpPr>
          <p:cNvPr id="7" name="Text 5"/>
          <p:cNvSpPr txBox="1"/>
          <p:nvPr/>
        </p:nvSpPr>
        <p:spPr>
          <a:xfrm>
            <a:off x="1920240" y="1783080"/>
            <a:ext cx="9326880" cy="621792"/>
          </a:xfrm>
          <a:prstGeom prst="rect">
            <a:avLst/>
          </a:prstGeom>
          <a:noFill/>
          <a:ln/>
        </p:spPr>
        <p:txBody>
          <a:bodyPr wrap="square" lIns="0" tIns="0" rIns="0" bIns="0" rtlCol="0" anchor="ctr"/>
          <a:lstStyle/>
          <a:p>
            <a:pPr indent="0" marL="0">
              <a:buNone/>
            </a:pPr>
            <a:r>
              <a:rPr lang="en-US" sz="1400" dirty="0">
                <a:solidFill>
                  <a:srgbClr val="E6E9EF"/>
                </a:solidFill>
              </a:rPr>
              <a:t>Single agent, one attempt. No second chance</a:t>
            </a:r>
            <a:endParaRPr lang="en-US" sz="1400" dirty="0"/>
          </a:p>
        </p:txBody>
      </p:sp>
      <p:sp>
        <p:nvSpPr>
          <p:cNvPr id="8" name="cond-A+"/>
          <p:cNvSpPr/>
          <p:nvPr/>
        </p:nvSpPr>
        <p:spPr>
          <a:xfrm>
            <a:off x="640080" y="2514600"/>
            <a:ext cx="10881360" cy="621792"/>
          </a:xfrm>
          <a:prstGeom prst="roundRect">
            <a:avLst>
              <a:gd name="adj" fmla="val 8824"/>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868680" y="2514600"/>
            <a:ext cx="914400" cy="621792"/>
          </a:xfrm>
          <a:prstGeom prst="rect">
            <a:avLst/>
          </a:prstGeom>
          <a:noFill/>
          <a:ln/>
        </p:spPr>
        <p:txBody>
          <a:bodyPr wrap="square" lIns="0" tIns="0" rIns="0" bIns="0" rtlCol="0" anchor="ctr"/>
          <a:lstStyle/>
          <a:p>
            <a:pPr indent="0" marL="0">
              <a:buNone/>
            </a:pPr>
            <a:r>
              <a:rPr lang="en-US" sz="2000" b="1" dirty="0">
                <a:solidFill>
                  <a:srgbClr val="3DDC97"/>
                </a:solidFill>
              </a:rPr>
              <a:t>A+</a:t>
            </a:r>
            <a:endParaRPr lang="en-US" sz="2000" dirty="0"/>
          </a:p>
        </p:txBody>
      </p:sp>
      <p:sp>
        <p:nvSpPr>
          <p:cNvPr id="10" name="Text 8"/>
          <p:cNvSpPr txBox="1"/>
          <p:nvPr/>
        </p:nvSpPr>
        <p:spPr>
          <a:xfrm>
            <a:off x="1920240" y="2514600"/>
            <a:ext cx="9326880" cy="621792"/>
          </a:xfrm>
          <a:prstGeom prst="rect">
            <a:avLst/>
          </a:prstGeom>
          <a:noFill/>
          <a:ln/>
        </p:spPr>
        <p:txBody>
          <a:bodyPr wrap="square" lIns="0" tIns="0" rIns="0" bIns="0" rtlCol="0" anchor="ctr"/>
          <a:lstStyle/>
          <a:p>
            <a:pPr indent="0" marL="0">
              <a:buNone/>
            </a:pPr>
            <a:r>
              <a:rPr lang="en-US" sz="1400" b="1" dirty="0">
                <a:solidFill>
                  <a:srgbClr val="FFFFFF"/>
                </a:solidFill>
              </a:rPr>
              <a:t>Single agent given the SAME token budget as D, spent on repeated sampling and a majority vote</a:t>
            </a:r>
            <a:endParaRPr lang="en-US" sz="1400" dirty="0"/>
          </a:p>
        </p:txBody>
      </p:sp>
      <p:sp>
        <p:nvSpPr>
          <p:cNvPr id="11" name="cond-B"/>
          <p:cNvSpPr/>
          <p:nvPr/>
        </p:nvSpPr>
        <p:spPr>
          <a:xfrm>
            <a:off x="640080" y="3246120"/>
            <a:ext cx="10881360" cy="621792"/>
          </a:xfrm>
          <a:prstGeom prst="roundRect">
            <a:avLst>
              <a:gd name="adj" fmla="val 8824"/>
            </a:avLst>
          </a:prstGeom>
          <a:solidFill>
            <a:srgbClr val="0F1115"/>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868680" y="3246120"/>
            <a:ext cx="914400" cy="621792"/>
          </a:xfrm>
          <a:prstGeom prst="rect">
            <a:avLst/>
          </a:prstGeom>
          <a:noFill/>
          <a:ln/>
        </p:spPr>
        <p:txBody>
          <a:bodyPr wrap="square" lIns="0" tIns="0" rIns="0" bIns="0" rtlCol="0" anchor="ctr"/>
          <a:lstStyle/>
          <a:p>
            <a:pPr indent="0" marL="0">
              <a:buNone/>
            </a:pPr>
            <a:r>
              <a:rPr lang="en-US" sz="2000" b="1" dirty="0">
                <a:solidFill>
                  <a:srgbClr val="8B93A7"/>
                </a:solidFill>
              </a:rPr>
              <a:t>B</a:t>
            </a:r>
            <a:endParaRPr lang="en-US" sz="2000" dirty="0"/>
          </a:p>
        </p:txBody>
      </p:sp>
      <p:sp>
        <p:nvSpPr>
          <p:cNvPr id="13" name="Text 11"/>
          <p:cNvSpPr txBox="1"/>
          <p:nvPr/>
        </p:nvSpPr>
        <p:spPr>
          <a:xfrm>
            <a:off x="1920240" y="3246120"/>
            <a:ext cx="9326880" cy="621792"/>
          </a:xfrm>
          <a:prstGeom prst="rect">
            <a:avLst/>
          </a:prstGeom>
          <a:noFill/>
          <a:ln/>
        </p:spPr>
        <p:txBody>
          <a:bodyPr wrap="square" lIns="0" tIns="0" rIns="0" bIns="0" rtlCol="0" anchor="ctr"/>
          <a:lstStyle/>
          <a:p>
            <a:pPr indent="0" marL="0">
              <a:buNone/>
            </a:pPr>
            <a:r>
              <a:rPr lang="en-US" sz="1400" dirty="0">
                <a:solidFill>
                  <a:srgbClr val="E6E9EF"/>
                </a:solidFill>
              </a:rPr>
              <a:t>Generator and validator in a loop</a:t>
            </a:r>
            <a:endParaRPr lang="en-US" sz="1400" dirty="0"/>
          </a:p>
        </p:txBody>
      </p:sp>
      <p:sp>
        <p:nvSpPr>
          <p:cNvPr id="14" name="cond-C"/>
          <p:cNvSpPr/>
          <p:nvPr/>
        </p:nvSpPr>
        <p:spPr>
          <a:xfrm>
            <a:off x="640080" y="3977640"/>
            <a:ext cx="10881360" cy="621792"/>
          </a:xfrm>
          <a:prstGeom prst="roundRect">
            <a:avLst>
              <a:gd name="adj" fmla="val 8824"/>
            </a:avLst>
          </a:prstGeom>
          <a:solidFill>
            <a:srgbClr val="0F1115"/>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868680" y="3977640"/>
            <a:ext cx="914400" cy="621792"/>
          </a:xfrm>
          <a:prstGeom prst="rect">
            <a:avLst/>
          </a:prstGeom>
          <a:noFill/>
          <a:ln/>
        </p:spPr>
        <p:txBody>
          <a:bodyPr wrap="square" lIns="0" tIns="0" rIns="0" bIns="0" rtlCol="0" anchor="ctr"/>
          <a:lstStyle/>
          <a:p>
            <a:pPr indent="0" marL="0">
              <a:buNone/>
            </a:pPr>
            <a:r>
              <a:rPr lang="en-US" sz="2000" b="1" dirty="0">
                <a:solidFill>
                  <a:srgbClr val="8B93A7"/>
                </a:solidFill>
              </a:rPr>
              <a:t>C</a:t>
            </a:r>
            <a:endParaRPr lang="en-US" sz="2000" dirty="0"/>
          </a:p>
        </p:txBody>
      </p:sp>
      <p:sp>
        <p:nvSpPr>
          <p:cNvPr id="16" name="Text 14"/>
          <p:cNvSpPr txBox="1"/>
          <p:nvPr/>
        </p:nvSpPr>
        <p:spPr>
          <a:xfrm>
            <a:off x="1920240" y="3977640"/>
            <a:ext cx="9326880" cy="621792"/>
          </a:xfrm>
          <a:prstGeom prst="rect">
            <a:avLst/>
          </a:prstGeom>
          <a:noFill/>
          <a:ln/>
        </p:spPr>
        <p:txBody>
          <a:bodyPr wrap="square" lIns="0" tIns="0" rIns="0" bIns="0" rtlCol="0" anchor="ctr"/>
          <a:lstStyle/>
          <a:p>
            <a:pPr indent="0" marL="0">
              <a:buNone/>
            </a:pPr>
            <a:r>
              <a:rPr lang="en-US" sz="1400" dirty="0">
                <a:solidFill>
                  <a:srgbClr val="E6E9EF"/>
                </a:solidFill>
              </a:rPr>
              <a:t>Fixed pipeline: generator → critic → repair</a:t>
            </a:r>
            <a:endParaRPr lang="en-US" sz="1400" dirty="0"/>
          </a:p>
        </p:txBody>
      </p:sp>
      <p:sp>
        <p:nvSpPr>
          <p:cNvPr id="17" name="cond-D"/>
          <p:cNvSpPr/>
          <p:nvPr/>
        </p:nvSpPr>
        <p:spPr>
          <a:xfrm>
            <a:off x="640080" y="4709160"/>
            <a:ext cx="10881360" cy="621792"/>
          </a:xfrm>
          <a:prstGeom prst="roundRect">
            <a:avLst>
              <a:gd name="adj" fmla="val 8824"/>
            </a:avLst>
          </a:prstGeom>
          <a:solidFill>
            <a:srgbClr val="0F1115"/>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868680" y="4709160"/>
            <a:ext cx="914400" cy="621792"/>
          </a:xfrm>
          <a:prstGeom prst="rect">
            <a:avLst/>
          </a:prstGeom>
          <a:noFill/>
          <a:ln/>
        </p:spPr>
        <p:txBody>
          <a:bodyPr wrap="square" lIns="0" tIns="0" rIns="0" bIns="0" rtlCol="0" anchor="ctr"/>
          <a:lstStyle/>
          <a:p>
            <a:pPr indent="0" marL="0">
              <a:buNone/>
            </a:pPr>
            <a:r>
              <a:rPr lang="en-US" sz="2000" b="1" dirty="0">
                <a:solidFill>
                  <a:srgbClr val="5B9DFF"/>
                </a:solidFill>
              </a:rPr>
              <a:t>D</a:t>
            </a:r>
            <a:endParaRPr lang="en-US" sz="2000" dirty="0"/>
          </a:p>
        </p:txBody>
      </p:sp>
      <p:sp>
        <p:nvSpPr>
          <p:cNvPr id="19" name="Text 17"/>
          <p:cNvSpPr txBox="1"/>
          <p:nvPr/>
        </p:nvSpPr>
        <p:spPr>
          <a:xfrm>
            <a:off x="1920240" y="4709160"/>
            <a:ext cx="9326880" cy="621792"/>
          </a:xfrm>
          <a:prstGeom prst="rect">
            <a:avLst/>
          </a:prstGeom>
          <a:noFill/>
          <a:ln/>
        </p:spPr>
        <p:txBody>
          <a:bodyPr wrap="square" lIns="0" tIns="0" rIns="0" bIns="0" rtlCol="0" anchor="ctr"/>
          <a:lstStyle/>
          <a:p>
            <a:pPr indent="0" marL="0">
              <a:buNone/>
            </a:pPr>
            <a:r>
              <a:rPr lang="en-US" sz="1400" dirty="0">
                <a:solidFill>
                  <a:srgbClr val="E6E9EF"/>
                </a:solidFill>
              </a:rPr>
              <a:t>ARBITER — a planner picks roles and depth per task</a:t>
            </a:r>
            <a:endParaRPr lang="en-US" sz="1400" dirty="0"/>
          </a:p>
        </p:txBody>
      </p:sp>
      <p:sp>
        <p:nvSpPr>
          <p:cNvPr id="20" name="Text 18"/>
          <p:cNvSpPr txBox="1"/>
          <p:nvPr/>
        </p:nvSpPr>
        <p:spPr>
          <a:xfrm>
            <a:off x="640080" y="5486400"/>
            <a:ext cx="10881360" cy="822960"/>
          </a:xfrm>
          <a:prstGeom prst="rect">
            <a:avLst/>
          </a:prstGeom>
          <a:noFill/>
          <a:ln/>
        </p:spPr>
        <p:txBody>
          <a:bodyPr wrap="square" lIns="0" tIns="0" rIns="0" bIns="0" rtlCol="0" anchor="ctr"/>
          <a:lstStyle/>
          <a:p>
            <a:pPr indent="0" marL="0">
              <a:buNone/>
            </a:pPr>
            <a:r>
              <a:rPr lang="en-US" sz="1400" b="1" dirty="0">
                <a:solidFill>
                  <a:srgbClr val="3DDC97"/>
                </a:solidFill>
              </a:rPr>
              <a:t>A+ is what makes the project credible. </a:t>
            </a:r>
            <a:pPr indent="0" marL="0">
              <a:buNone/>
            </a:pPr>
            <a:r>
              <a:rPr lang="en-US" sz="1400" dirty="0">
                <a:solidFill>
                  <a:srgbClr val="E6E9EF"/>
                </a:solidFill>
              </a:rPr>
              <a:t>Compare a five-call system against one call and you have proved nothing — you spent five times as much. A+ removes that excuse, and it is deliberately denied the validator, or it would be a refinement loop rather than a single agent.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Aniket Kundal · 23BCS015</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Three families, chosen by checker strength</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F0B429"/>
                </a:solidFill>
              </a:rPr>
              <a:t>THIS AXIS IS THE EXPERIMENT</a:t>
            </a:r>
            <a:endParaRPr lang="en-US" sz="1100" dirty="0"/>
          </a:p>
        </p:txBody>
      </p:sp>
      <p:sp>
        <p:nvSpPr>
          <p:cNvPr id="5" name="fam-0"/>
          <p:cNvSpPr/>
          <p:nvPr/>
        </p:nvSpPr>
        <p:spPr>
          <a:xfrm>
            <a:off x="640080" y="1783080"/>
            <a:ext cx="3438144" cy="3017520"/>
          </a:xfrm>
          <a:prstGeom prst="roundRect">
            <a:avLst>
              <a:gd name="adj" fmla="val 1818"/>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914400" y="1965960"/>
            <a:ext cx="2889504" cy="411480"/>
          </a:xfrm>
          <a:prstGeom prst="rect">
            <a:avLst/>
          </a:prstGeom>
          <a:noFill/>
          <a:ln/>
        </p:spPr>
        <p:txBody>
          <a:bodyPr wrap="square" lIns="0" tIns="0" rIns="0" bIns="0" rtlCol="0" anchor="ctr"/>
          <a:lstStyle/>
          <a:p>
            <a:pPr indent="0" marL="0">
              <a:buNone/>
            </a:pPr>
            <a:r>
              <a:rPr lang="en-US" sz="2200" b="1" dirty="0">
                <a:solidFill>
                  <a:srgbClr val="3DDC97"/>
                </a:solidFill>
              </a:rPr>
              <a:t>Code</a:t>
            </a:r>
            <a:endParaRPr lang="en-US" sz="2200" dirty="0"/>
          </a:p>
        </p:txBody>
      </p:sp>
      <p:sp>
        <p:nvSpPr>
          <p:cNvPr id="7" name="Text 5"/>
          <p:cNvSpPr txBox="1"/>
          <p:nvPr/>
        </p:nvSpPr>
        <p:spPr>
          <a:xfrm>
            <a:off x="914400" y="2395728"/>
            <a:ext cx="2889504" cy="274320"/>
          </a:xfrm>
          <a:prstGeom prst="rect">
            <a:avLst/>
          </a:prstGeom>
          <a:noFill/>
          <a:ln/>
        </p:spPr>
        <p:txBody>
          <a:bodyPr wrap="square" lIns="0" tIns="0" rIns="0" bIns="0" rtlCol="0" anchor="ctr"/>
          <a:lstStyle/>
          <a:p>
            <a:pPr indent="0" marL="0">
              <a:buNone/>
            </a:pPr>
            <a:r>
              <a:rPr lang="en-US" sz="1200" dirty="0">
                <a:solidFill>
                  <a:srgbClr val="8B93A7"/>
                </a:solidFill>
              </a:rPr>
              <a:t>HumanEval+ / MBPP+</a:t>
            </a:r>
            <a:endParaRPr lang="en-US" sz="1200" dirty="0"/>
          </a:p>
        </p:txBody>
      </p:sp>
      <p:sp>
        <p:nvSpPr>
          <p:cNvPr id="8" name="Text 6"/>
          <p:cNvSpPr txBox="1"/>
          <p:nvPr/>
        </p:nvSpPr>
        <p:spPr>
          <a:xfrm>
            <a:off x="914400" y="2788920"/>
            <a:ext cx="2889504" cy="548640"/>
          </a:xfrm>
          <a:prstGeom prst="rect">
            <a:avLst/>
          </a:prstGeom>
          <a:noFill/>
          <a:ln/>
        </p:spPr>
        <p:txBody>
          <a:bodyPr wrap="square" lIns="0" tIns="0" rIns="0" bIns="0" rtlCol="0" anchor="ctr"/>
          <a:lstStyle/>
          <a:p>
            <a:pPr indent="0" marL="0">
              <a:buNone/>
            </a:pPr>
            <a:r>
              <a:rPr lang="en-US" sz="1400" dirty="0">
                <a:solidFill>
                  <a:srgbClr val="E6E9EF"/>
                </a:solidFill>
              </a:rPr>
              <a:t>Runs unit tests</a:t>
            </a:r>
            <a:endParaRPr lang="en-US" sz="1400" dirty="0"/>
          </a:p>
        </p:txBody>
      </p:sp>
      <p:sp>
        <p:nvSpPr>
          <p:cNvPr id="9" name="Text 7"/>
          <p:cNvSpPr txBox="1"/>
          <p:nvPr/>
        </p:nvSpPr>
        <p:spPr>
          <a:xfrm>
            <a:off x="914400" y="3474720"/>
            <a:ext cx="2889504" cy="365760"/>
          </a:xfrm>
          <a:prstGeom prst="rect">
            <a:avLst/>
          </a:prstGeom>
          <a:noFill/>
          <a:ln/>
        </p:spPr>
        <p:txBody>
          <a:bodyPr wrap="square" lIns="0" tIns="0" rIns="0" bIns="0" rtlCol="0" anchor="ctr"/>
          <a:lstStyle/>
          <a:p>
            <a:pPr indent="0" marL="0">
              <a:buNone/>
            </a:pPr>
            <a:r>
              <a:rPr lang="en-US" sz="1500" b="1" spc="150" kern="0" dirty="0">
                <a:solidFill>
                  <a:srgbClr val="3DDC97"/>
                </a:solidFill>
              </a:rPr>
              <a:t>STRONG</a:t>
            </a:r>
            <a:endParaRPr lang="en-US" sz="1500" dirty="0"/>
          </a:p>
        </p:txBody>
      </p:sp>
      <p:sp>
        <p:nvSpPr>
          <p:cNvPr id="10" name="Text 8"/>
          <p:cNvSpPr txBox="1"/>
          <p:nvPr/>
        </p:nvSpPr>
        <p:spPr>
          <a:xfrm>
            <a:off x="914400" y="3858768"/>
            <a:ext cx="2889504" cy="731520"/>
          </a:xfrm>
          <a:prstGeom prst="rect">
            <a:avLst/>
          </a:prstGeom>
          <a:noFill/>
          <a:ln/>
        </p:spPr>
        <p:txBody>
          <a:bodyPr wrap="square" lIns="0" tIns="0" rIns="0" bIns="0" rtlCol="0" anchor="ctr"/>
          <a:lstStyle/>
          <a:p>
            <a:pPr indent="0" marL="0">
              <a:buNone/>
            </a:pPr>
            <a:r>
              <a:rPr lang="en-US" sz="1200" dirty="0">
                <a:solidFill>
                  <a:srgbClr val="8B93A7"/>
                </a:solidFill>
              </a:rPr>
              <a:t>tells you which test failed</a:t>
            </a:r>
            <a:endParaRPr lang="en-US" sz="1200" dirty="0"/>
          </a:p>
        </p:txBody>
      </p:sp>
      <p:sp>
        <p:nvSpPr>
          <p:cNvPr id="11" name="fam-1"/>
          <p:cNvSpPr/>
          <p:nvPr/>
        </p:nvSpPr>
        <p:spPr>
          <a:xfrm>
            <a:off x="4370832" y="1783080"/>
            <a:ext cx="3438144" cy="3017520"/>
          </a:xfrm>
          <a:prstGeom prst="roundRect">
            <a:avLst>
              <a:gd name="adj" fmla="val 1818"/>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4645152" y="1965960"/>
            <a:ext cx="2889504" cy="411480"/>
          </a:xfrm>
          <a:prstGeom prst="rect">
            <a:avLst/>
          </a:prstGeom>
          <a:noFill/>
          <a:ln/>
        </p:spPr>
        <p:txBody>
          <a:bodyPr wrap="square" lIns="0" tIns="0" rIns="0" bIns="0" rtlCol="0" anchor="ctr"/>
          <a:lstStyle/>
          <a:p>
            <a:pPr indent="0" marL="0">
              <a:buNone/>
            </a:pPr>
            <a:r>
              <a:rPr lang="en-US" sz="2200" b="1" dirty="0">
                <a:solidFill>
                  <a:srgbClr val="5B9DFF"/>
                </a:solidFill>
              </a:rPr>
              <a:t>SQL</a:t>
            </a:r>
            <a:endParaRPr lang="en-US" sz="2200" dirty="0"/>
          </a:p>
        </p:txBody>
      </p:sp>
      <p:sp>
        <p:nvSpPr>
          <p:cNvPr id="13" name="Text 11"/>
          <p:cNvSpPr txBox="1"/>
          <p:nvPr/>
        </p:nvSpPr>
        <p:spPr>
          <a:xfrm>
            <a:off x="4645152" y="2395728"/>
            <a:ext cx="2889504" cy="274320"/>
          </a:xfrm>
          <a:prstGeom prst="rect">
            <a:avLst/>
          </a:prstGeom>
          <a:noFill/>
          <a:ln/>
        </p:spPr>
        <p:txBody>
          <a:bodyPr wrap="square" lIns="0" tIns="0" rIns="0" bIns="0" rtlCol="0" anchor="ctr"/>
          <a:lstStyle/>
          <a:p>
            <a:pPr indent="0" marL="0">
              <a:buNone/>
            </a:pPr>
            <a:r>
              <a:rPr lang="en-US" sz="1200" dirty="0">
                <a:solidFill>
                  <a:srgbClr val="8B93A7"/>
                </a:solidFill>
              </a:rPr>
              <a:t>Spider</a:t>
            </a:r>
            <a:endParaRPr lang="en-US" sz="1200" dirty="0"/>
          </a:p>
        </p:txBody>
      </p:sp>
      <p:sp>
        <p:nvSpPr>
          <p:cNvPr id="14" name="Text 12"/>
          <p:cNvSpPr txBox="1"/>
          <p:nvPr/>
        </p:nvSpPr>
        <p:spPr>
          <a:xfrm>
            <a:off x="4645152" y="2788920"/>
            <a:ext cx="2889504" cy="548640"/>
          </a:xfrm>
          <a:prstGeom prst="rect">
            <a:avLst/>
          </a:prstGeom>
          <a:noFill/>
          <a:ln/>
        </p:spPr>
        <p:txBody>
          <a:bodyPr wrap="square" lIns="0" tIns="0" rIns="0" bIns="0" rtlCol="0" anchor="ctr"/>
          <a:lstStyle/>
          <a:p>
            <a:pPr indent="0" marL="0">
              <a:buNone/>
            </a:pPr>
            <a:r>
              <a:rPr lang="en-US" sz="1400" dirty="0">
                <a:solidFill>
                  <a:srgbClr val="E6E9EF"/>
                </a:solidFill>
              </a:rPr>
              <a:t>Runs the query, compares results</a:t>
            </a:r>
            <a:endParaRPr lang="en-US" sz="1400" dirty="0"/>
          </a:p>
        </p:txBody>
      </p:sp>
      <p:sp>
        <p:nvSpPr>
          <p:cNvPr id="15" name="Text 13"/>
          <p:cNvSpPr txBox="1"/>
          <p:nvPr/>
        </p:nvSpPr>
        <p:spPr>
          <a:xfrm>
            <a:off x="4645152" y="3474720"/>
            <a:ext cx="2889504" cy="365760"/>
          </a:xfrm>
          <a:prstGeom prst="rect">
            <a:avLst/>
          </a:prstGeom>
          <a:noFill/>
          <a:ln/>
        </p:spPr>
        <p:txBody>
          <a:bodyPr wrap="square" lIns="0" tIns="0" rIns="0" bIns="0" rtlCol="0" anchor="ctr"/>
          <a:lstStyle/>
          <a:p>
            <a:pPr indent="0" marL="0">
              <a:buNone/>
            </a:pPr>
            <a:r>
              <a:rPr lang="en-US" sz="1500" b="1" spc="150" kern="0" dirty="0">
                <a:solidFill>
                  <a:srgbClr val="5B9DFF"/>
                </a:solidFill>
              </a:rPr>
              <a:t>MEDIUM</a:t>
            </a:r>
            <a:endParaRPr lang="en-US" sz="1500" dirty="0"/>
          </a:p>
        </p:txBody>
      </p:sp>
      <p:sp>
        <p:nvSpPr>
          <p:cNvPr id="16" name="Text 14"/>
          <p:cNvSpPr txBox="1"/>
          <p:nvPr/>
        </p:nvSpPr>
        <p:spPr>
          <a:xfrm>
            <a:off x="4645152" y="3858768"/>
            <a:ext cx="2889504" cy="731520"/>
          </a:xfrm>
          <a:prstGeom prst="rect">
            <a:avLst/>
          </a:prstGeom>
          <a:noFill/>
          <a:ln/>
        </p:spPr>
        <p:txBody>
          <a:bodyPr wrap="square" lIns="0" tIns="0" rIns="0" bIns="0" rtlCol="0" anchor="ctr"/>
          <a:lstStyle/>
          <a:p>
            <a:pPr indent="0" marL="0">
              <a:buNone/>
            </a:pPr>
            <a:r>
              <a:rPr lang="en-US" sz="1200" dirty="0">
                <a:solidFill>
                  <a:srgbClr val="8B93A7"/>
                </a:solidFill>
              </a:rPr>
              <a:t>final answer only</a:t>
            </a:r>
            <a:endParaRPr lang="en-US" sz="1200" dirty="0"/>
          </a:p>
        </p:txBody>
      </p:sp>
      <p:sp>
        <p:nvSpPr>
          <p:cNvPr id="17" name="fam-2"/>
          <p:cNvSpPr/>
          <p:nvPr/>
        </p:nvSpPr>
        <p:spPr>
          <a:xfrm>
            <a:off x="8101584" y="1783080"/>
            <a:ext cx="3438144" cy="3017520"/>
          </a:xfrm>
          <a:prstGeom prst="roundRect">
            <a:avLst>
              <a:gd name="adj" fmla="val 1818"/>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8375904" y="1965960"/>
            <a:ext cx="2889504" cy="411480"/>
          </a:xfrm>
          <a:prstGeom prst="rect">
            <a:avLst/>
          </a:prstGeom>
          <a:noFill/>
          <a:ln/>
        </p:spPr>
        <p:txBody>
          <a:bodyPr wrap="square" lIns="0" tIns="0" rIns="0" bIns="0" rtlCol="0" anchor="ctr"/>
          <a:lstStyle/>
          <a:p>
            <a:pPr indent="0" marL="0">
              <a:buNone/>
            </a:pPr>
            <a:r>
              <a:rPr lang="en-US" sz="2200" b="1" dirty="0">
                <a:solidFill>
                  <a:srgbClr val="F0B429"/>
                </a:solidFill>
              </a:rPr>
              <a:t>Maths</a:t>
            </a:r>
            <a:endParaRPr lang="en-US" sz="2200" dirty="0"/>
          </a:p>
        </p:txBody>
      </p:sp>
      <p:sp>
        <p:nvSpPr>
          <p:cNvPr id="19" name="Text 17"/>
          <p:cNvSpPr txBox="1"/>
          <p:nvPr/>
        </p:nvSpPr>
        <p:spPr>
          <a:xfrm>
            <a:off x="8375904" y="2395728"/>
            <a:ext cx="2889504" cy="274320"/>
          </a:xfrm>
          <a:prstGeom prst="rect">
            <a:avLst/>
          </a:prstGeom>
          <a:noFill/>
          <a:ln/>
        </p:spPr>
        <p:txBody>
          <a:bodyPr wrap="square" lIns="0" tIns="0" rIns="0" bIns="0" rtlCol="0" anchor="ctr"/>
          <a:lstStyle/>
          <a:p>
            <a:pPr indent="0" marL="0">
              <a:buNone/>
            </a:pPr>
            <a:r>
              <a:rPr lang="en-US" sz="1200" dirty="0">
                <a:solidFill>
                  <a:srgbClr val="8B93A7"/>
                </a:solidFill>
              </a:rPr>
              <a:t>GSM8K</a:t>
            </a:r>
            <a:endParaRPr lang="en-US" sz="1200" dirty="0"/>
          </a:p>
        </p:txBody>
      </p:sp>
      <p:sp>
        <p:nvSpPr>
          <p:cNvPr id="20" name="Text 18"/>
          <p:cNvSpPr txBox="1"/>
          <p:nvPr/>
        </p:nvSpPr>
        <p:spPr>
          <a:xfrm>
            <a:off x="8375904" y="2788920"/>
            <a:ext cx="2889504" cy="548640"/>
          </a:xfrm>
          <a:prstGeom prst="rect">
            <a:avLst/>
          </a:prstGeom>
          <a:noFill/>
          <a:ln/>
        </p:spPr>
        <p:txBody>
          <a:bodyPr wrap="square" lIns="0" tIns="0" rIns="0" bIns="0" rtlCol="0" anchor="ctr"/>
          <a:lstStyle/>
          <a:p>
            <a:pPr indent="0" marL="0">
              <a:buNone/>
            </a:pPr>
            <a:r>
              <a:rPr lang="en-US" sz="1400" dirty="0">
                <a:solidFill>
                  <a:srgbClr val="E6E9EF"/>
                </a:solidFill>
              </a:rPr>
              <a:t>Compares the final number</a:t>
            </a:r>
            <a:endParaRPr lang="en-US" sz="1400" dirty="0"/>
          </a:p>
        </p:txBody>
      </p:sp>
      <p:sp>
        <p:nvSpPr>
          <p:cNvPr id="21" name="Text 19"/>
          <p:cNvSpPr txBox="1"/>
          <p:nvPr/>
        </p:nvSpPr>
        <p:spPr>
          <a:xfrm>
            <a:off x="8375904" y="3474720"/>
            <a:ext cx="2889504" cy="365760"/>
          </a:xfrm>
          <a:prstGeom prst="rect">
            <a:avLst/>
          </a:prstGeom>
          <a:noFill/>
          <a:ln/>
        </p:spPr>
        <p:txBody>
          <a:bodyPr wrap="square" lIns="0" tIns="0" rIns="0" bIns="0" rtlCol="0" anchor="ctr"/>
          <a:lstStyle/>
          <a:p>
            <a:pPr indent="0" marL="0">
              <a:buNone/>
            </a:pPr>
            <a:r>
              <a:rPr lang="en-US" sz="1500" b="1" spc="150" kern="0" dirty="0">
                <a:solidFill>
                  <a:srgbClr val="F0B429"/>
                </a:solidFill>
              </a:rPr>
              <a:t>WEAK</a:t>
            </a:r>
            <a:endParaRPr lang="en-US" sz="1500" dirty="0"/>
          </a:p>
        </p:txBody>
      </p:sp>
      <p:sp>
        <p:nvSpPr>
          <p:cNvPr id="22" name="Text 20"/>
          <p:cNvSpPr txBox="1"/>
          <p:nvPr/>
        </p:nvSpPr>
        <p:spPr>
          <a:xfrm>
            <a:off x="8375904" y="3858768"/>
            <a:ext cx="2889504" cy="731520"/>
          </a:xfrm>
          <a:prstGeom prst="rect">
            <a:avLst/>
          </a:prstGeom>
          <a:noFill/>
          <a:ln/>
        </p:spPr>
        <p:txBody>
          <a:bodyPr wrap="square" lIns="0" tIns="0" rIns="0" bIns="0" rtlCol="0" anchor="ctr"/>
          <a:lstStyle/>
          <a:p>
            <a:pPr indent="0" marL="0">
              <a:buNone/>
            </a:pPr>
            <a:r>
              <a:rPr lang="en-US" sz="1200" dirty="0">
                <a:solidFill>
                  <a:srgbClr val="8B93A7"/>
                </a:solidFill>
              </a:rPr>
              <a:t>right or wrong, never which step</a:t>
            </a:r>
            <a:endParaRPr lang="en-US" sz="1200" dirty="0"/>
          </a:p>
        </p:txBody>
      </p:sp>
      <p:sp>
        <p:nvSpPr>
          <p:cNvPr id="23" name="Text 21"/>
          <p:cNvSpPr txBox="1"/>
          <p:nvPr/>
        </p:nvSpPr>
        <p:spPr>
          <a:xfrm>
            <a:off x="640080" y="5029200"/>
            <a:ext cx="10881360" cy="457200"/>
          </a:xfrm>
          <a:prstGeom prst="rect">
            <a:avLst/>
          </a:prstGeom>
          <a:noFill/>
          <a:ln/>
        </p:spPr>
        <p:txBody>
          <a:bodyPr wrap="square" lIns="0" tIns="0" rIns="0" bIns="0" rtlCol="0" anchor="ctr"/>
          <a:lstStyle/>
          <a:p>
            <a:pPr indent="0" marL="0">
              <a:buNone/>
            </a:pPr>
            <a:r>
              <a:rPr lang="en-US" sz="1500" dirty="0">
                <a:solidFill>
                  <a:srgbClr val="E6E9EF"/>
                </a:solidFill>
              </a:rPr>
              <a:t>One family would be an anecdote. Three give a trend — and whether the benefit tracks checker strength is research question 2.</a:t>
            </a:r>
            <a:endParaRPr lang="en-US" sz="1500" dirty="0"/>
          </a:p>
        </p:txBody>
      </p:sp>
      <p:sp>
        <p:nvSpPr>
          <p:cNvPr id="24" name="Text 22"/>
          <p:cNvSpPr txBox="1"/>
          <p:nvPr/>
        </p:nvSpPr>
        <p:spPr>
          <a:xfrm>
            <a:off x="640080" y="5532120"/>
            <a:ext cx="10881360" cy="548640"/>
          </a:xfrm>
          <a:prstGeom prst="rect">
            <a:avLst/>
          </a:prstGeom>
          <a:noFill/>
          <a:ln/>
        </p:spPr>
        <p:txBody>
          <a:bodyPr wrap="square" lIns="0" tIns="0" rIns="0" bIns="0" rtlCol="0" anchor="ctr"/>
          <a:lstStyle/>
          <a:p>
            <a:pPr indent="0" marL="0">
              <a:buNone/>
            </a:pPr>
            <a:r>
              <a:rPr lang="en-US" sz="1300" dirty="0">
                <a:solidFill>
                  <a:srgbClr val="8B93A7"/>
                </a:solidFill>
              </a:rPr>
              <a:t>40 tasks per family, frozen before the final runs and committed with a hash. Failures classified with MAST, an existing taxonomy — we did not invent our own.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Aniket Kundal · 23BCS015</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What we have measured — read honestly</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F0B429"/>
                </a:solidFill>
              </a:rPr>
              <a:t>25 RUNS, ALL FIVE CONDITIONS</a:t>
            </a:r>
            <a:endParaRPr lang="en-US" sz="1100" dirty="0"/>
          </a:p>
        </p:txBody>
      </p:sp>
      <p:graphicFrame>
        <p:nvGraphicFramePr>
          <p:cNvPr id="5" name="Chart 0" descr=""/>
          <p:cNvGraphicFramePr/>
          <p:nvPr/>
        </p:nvGraphicFramePr>
        <p:xfrm>
          <a:off x="640080" y="173736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6" name="pass"/>
          <p:cNvSpPr/>
          <p:nvPr/>
        </p:nvSpPr>
        <p:spPr>
          <a:xfrm>
            <a:off x="7040880" y="1737360"/>
            <a:ext cx="4480560" cy="1417320"/>
          </a:xfrm>
          <a:prstGeom prst="roundRect">
            <a:avLst>
              <a:gd name="adj" fmla="val 3871"/>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7" name="Text 4"/>
          <p:cNvSpPr txBox="1"/>
          <p:nvPr/>
        </p:nvSpPr>
        <p:spPr>
          <a:xfrm>
            <a:off x="7315200" y="1874520"/>
            <a:ext cx="3931920" cy="640080"/>
          </a:xfrm>
          <a:prstGeom prst="rect">
            <a:avLst/>
          </a:prstGeom>
          <a:noFill/>
          <a:ln/>
        </p:spPr>
        <p:txBody>
          <a:bodyPr wrap="square" lIns="0" tIns="0" rIns="0" bIns="0" rtlCol="0" anchor="ctr"/>
          <a:lstStyle/>
          <a:p>
            <a:pPr indent="0" marL="0">
              <a:buNone/>
            </a:pPr>
            <a:r>
              <a:rPr lang="en-US" sz="4000" b="1" dirty="0">
                <a:solidFill>
                  <a:srgbClr val="3DDC97"/>
                </a:solidFill>
              </a:rPr>
              <a:t>100%</a:t>
            </a:r>
            <a:endParaRPr lang="en-US" sz="4000" dirty="0"/>
          </a:p>
        </p:txBody>
      </p:sp>
      <p:sp>
        <p:nvSpPr>
          <p:cNvPr id="8" name="Text 5"/>
          <p:cNvSpPr txBox="1"/>
          <p:nvPr/>
        </p:nvSpPr>
        <p:spPr>
          <a:xfrm>
            <a:off x="7315200" y="2487168"/>
            <a:ext cx="3931920" cy="502920"/>
          </a:xfrm>
          <a:prstGeom prst="rect">
            <a:avLst/>
          </a:prstGeom>
          <a:noFill/>
          <a:ln/>
        </p:spPr>
        <p:txBody>
          <a:bodyPr wrap="square" lIns="0" tIns="0" rIns="0" bIns="0" rtlCol="0" anchor="ctr"/>
          <a:lstStyle/>
          <a:p>
            <a:pPr indent="0" marL="0">
              <a:buNone/>
            </a:pPr>
            <a:r>
              <a:rPr lang="en-US" sz="1300" dirty="0">
                <a:solidFill>
                  <a:srgbClr val="8B93A7"/>
                </a:solidFill>
              </a:rPr>
              <a:t>pass rate — in every one of the five conditions</a:t>
            </a:r>
            <a:endParaRPr lang="en-US" sz="1300" dirty="0"/>
          </a:p>
        </p:txBody>
      </p:sp>
      <p:sp>
        <p:nvSpPr>
          <p:cNvPr id="9" name="caveat"/>
          <p:cNvSpPr/>
          <p:nvPr/>
        </p:nvSpPr>
        <p:spPr>
          <a:xfrm>
            <a:off x="7040880" y="3291840"/>
            <a:ext cx="4480560" cy="1645920"/>
          </a:xfrm>
          <a:prstGeom prst="roundRect">
            <a:avLst>
              <a:gd name="adj" fmla="val 3333"/>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0" name="Text 7"/>
          <p:cNvSpPr txBox="1"/>
          <p:nvPr/>
        </p:nvSpPr>
        <p:spPr>
          <a:xfrm>
            <a:off x="7315200" y="3474720"/>
            <a:ext cx="3931920" cy="548640"/>
          </a:xfrm>
          <a:prstGeom prst="rect">
            <a:avLst/>
          </a:prstGeom>
          <a:noFill/>
          <a:ln/>
        </p:spPr>
        <p:txBody>
          <a:bodyPr wrap="square" lIns="0" tIns="0" rIns="0" bIns="0" rtlCol="0" anchor="ctr"/>
          <a:lstStyle/>
          <a:p>
            <a:pPr indent="0" marL="0">
              <a:buNone/>
            </a:pPr>
            <a:r>
              <a:rPr lang="en-US" sz="1500" b="1" dirty="0">
                <a:solidFill>
                  <a:srgbClr val="F0B429"/>
                </a:solidFill>
              </a:rPr>
              <a:t>So these numbers cannot separate the conditions</a:t>
            </a:r>
            <a:endParaRPr lang="en-US" sz="1500" dirty="0"/>
          </a:p>
        </p:txBody>
      </p:sp>
      <p:sp>
        <p:nvSpPr>
          <p:cNvPr id="11" name="Text 8"/>
          <p:cNvSpPr txBox="1"/>
          <p:nvPr/>
        </p:nvSpPr>
        <p:spPr>
          <a:xfrm>
            <a:off x="7315200" y="3977640"/>
            <a:ext cx="3931920" cy="914400"/>
          </a:xfrm>
          <a:prstGeom prst="rect">
            <a:avLst/>
          </a:prstGeom>
          <a:noFill/>
          <a:ln/>
        </p:spPr>
        <p:txBody>
          <a:bodyPr wrap="square" lIns="0" tIns="0" rIns="0" bIns="0" rtlCol="0" anchor="ctr"/>
          <a:lstStyle/>
          <a:p>
            <a:pPr indent="0" marL="0">
              <a:buNone/>
            </a:pPr>
            <a:r>
              <a:rPr lang="en-US" sz="1200" dirty="0">
                <a:solidFill>
                  <a:srgbClr val="E6E9EF"/>
                </a:solidFill>
              </a:rPr>
              <a:t>The smoke set is a development fixture, not a benchmark — its tasks are easy enough for one model call. The honest conclusion is that the measurement pipeline works end to end.</a:t>
            </a:r>
            <a:endParaRPr lang="en-US" sz="1200" dirty="0"/>
          </a:p>
        </p:txBody>
      </p:sp>
      <p:sp>
        <p:nvSpPr>
          <p:cNvPr id="12" name="Text 9"/>
          <p:cNvSpPr txBox="1"/>
          <p:nvPr/>
        </p:nvSpPr>
        <p:spPr>
          <a:xfrm>
            <a:off x="640080" y="5120640"/>
            <a:ext cx="10881360" cy="822960"/>
          </a:xfrm>
          <a:prstGeom prst="rect">
            <a:avLst/>
          </a:prstGeom>
          <a:noFill/>
          <a:ln/>
        </p:spPr>
        <p:txBody>
          <a:bodyPr wrap="square" lIns="0" tIns="0" rIns="0" bIns="0" rtlCol="0" anchor="ctr"/>
          <a:lstStyle/>
          <a:p>
            <a:pPr indent="0" marL="0">
              <a:buNone/>
            </a:pPr>
            <a:r>
              <a:rPr lang="en-US" sz="1400" b="1" dirty="0">
                <a:solidFill>
                  <a:srgbClr val="FFFFFF"/>
                </a:solidFill>
              </a:rPr>
              <a:t>What the cost column already shows: </a:t>
            </a:r>
            <a:pPr indent="0" marL="0">
              <a:buNone/>
            </a:pPr>
            <a:r>
              <a:rPr lang="en-US" sz="1400" dirty="0">
                <a:solidFill>
                  <a:srgbClr val="E6E9EF"/>
                </a:solidFill>
              </a:rPr>
              <a:t>at identical correctness the adaptive condition spent 3× the tokens of the single agent. If that gap does not buy correctness on harder tasks, it is cost with no return — which is exactly the result this project exists to test rather than assume.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7680960" y="6382512"/>
            <a:ext cx="3840480" cy="274320"/>
          </a:xfrm>
          <a:prstGeom prst="rect">
            <a:avLst/>
          </a:prstGeom>
          <a:noFill/>
          <a:ln/>
        </p:spPr>
        <p:txBody>
          <a:bodyPr wrap="square" rtlCol="0"/>
          <a:lstStyle/>
          <a:p>
            <a:pPr algn="r" indent="0" marL="0">
              <a:buNone/>
            </a:pPr>
            <a:r>
              <a:rPr lang="en-US" sz="1000" dirty="0">
                <a:solidFill>
                  <a:srgbClr val="2A2F3A"/>
                </a:solidFill>
              </a:rPr>
              <a:t>Aniket Kundal · 23BCS015</a:t>
            </a:r>
            <a:endParaRPr lang="en-US" sz="1000" dirty="0"/>
          </a:p>
        </p:txBody>
      </p:sp>
      <p:sp>
        <p:nvSpPr>
          <p:cNvPr id="3" name="Text 0"/>
          <p:cNvSpPr/>
          <p:nvPr>
            <p:ph idx="100" type="title" hasCustomPrompt="1"/>
          </p:nvPr>
        </p:nvSpPr>
        <p:spPr>
          <a:xfrm>
            <a:off x="640080" y="475488"/>
            <a:ext cx="10881360" cy="731520"/>
          </a:xfrm>
          <a:prstGeom prst="rect">
            <a:avLst/>
          </a:prstGeom>
          <a:noFill/>
          <a:ln/>
        </p:spPr>
        <p:txBody>
          <a:bodyPr wrap="square" rtlCol="0"/>
          <a:lstStyle/>
          <a:p>
            <a:pPr algn="l" indent="0" marL="0">
              <a:buNone/>
            </a:pPr>
            <a:r>
              <a:rPr lang="en-US" sz="3400" b="1" dirty="0">
                <a:solidFill>
                  <a:srgbClr val="FFFFFF"/>
                </a:solidFill>
              </a:rPr>
              <a:t>Where this goes next</a:t>
            </a:r>
            <a:endParaRPr lang="en-US" sz="3400" dirty="0"/>
          </a:p>
        </p:txBody>
      </p:sp>
      <p:sp>
        <p:nvSpPr>
          <p:cNvPr id="4" name="Text 2"/>
          <p:cNvSpPr txBox="1"/>
          <p:nvPr/>
        </p:nvSpPr>
        <p:spPr>
          <a:xfrm>
            <a:off x="640080" y="1243584"/>
            <a:ext cx="10881360" cy="256032"/>
          </a:xfrm>
          <a:prstGeom prst="rect">
            <a:avLst/>
          </a:prstGeom>
          <a:noFill/>
          <a:ln/>
        </p:spPr>
        <p:txBody>
          <a:bodyPr wrap="square" lIns="0" tIns="0" rIns="0" bIns="0" rtlCol="0" anchor="ctr"/>
          <a:lstStyle/>
          <a:p>
            <a:pPr indent="0" marL="0">
              <a:buNone/>
            </a:pPr>
            <a:r>
              <a:rPr lang="en-US" sz="1100" b="1" spc="160" kern="0" dirty="0">
                <a:solidFill>
                  <a:srgbClr val="F0B429"/>
                </a:solidFill>
              </a:rPr>
              <a:t>REMAINING WORK</a:t>
            </a:r>
            <a:endParaRPr lang="en-US" sz="1100" dirty="0"/>
          </a:p>
        </p:txBody>
      </p:sp>
      <p:sp>
        <p:nvSpPr>
          <p:cNvPr id="5" name="phase-0"/>
          <p:cNvSpPr/>
          <p:nvPr/>
        </p:nvSpPr>
        <p:spPr>
          <a:xfrm>
            <a:off x="640080" y="1783080"/>
            <a:ext cx="10881360" cy="868680"/>
          </a:xfrm>
          <a:prstGeom prst="roundRect">
            <a:avLst>
              <a:gd name="adj" fmla="val 6316"/>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96112" y="1783080"/>
            <a:ext cx="1371600" cy="868680"/>
          </a:xfrm>
          <a:prstGeom prst="rect">
            <a:avLst/>
          </a:prstGeom>
          <a:noFill/>
          <a:ln/>
        </p:spPr>
        <p:txBody>
          <a:bodyPr wrap="square" lIns="0" tIns="0" rIns="0" bIns="0" rtlCol="0" anchor="ctr"/>
          <a:lstStyle/>
          <a:p>
            <a:pPr indent="0" marL="0">
              <a:buNone/>
            </a:pPr>
            <a:r>
              <a:rPr lang="en-US" sz="1600" b="1" dirty="0">
                <a:solidFill>
                  <a:srgbClr val="5B9DFF"/>
                </a:solidFill>
              </a:rPr>
              <a:t>Phase 2</a:t>
            </a:r>
            <a:endParaRPr lang="en-US" sz="1600" dirty="0"/>
          </a:p>
        </p:txBody>
      </p:sp>
      <p:sp>
        <p:nvSpPr>
          <p:cNvPr id="7" name="Text 5"/>
          <p:cNvSpPr txBox="1"/>
          <p:nvPr/>
        </p:nvSpPr>
        <p:spPr>
          <a:xfrm>
            <a:off x="2331720" y="1783080"/>
            <a:ext cx="1645920" cy="868680"/>
          </a:xfrm>
          <a:prstGeom prst="rect">
            <a:avLst/>
          </a:prstGeom>
          <a:noFill/>
          <a:ln/>
        </p:spPr>
        <p:txBody>
          <a:bodyPr wrap="square" lIns="0" tIns="0" rIns="0" bIns="0" rtlCol="0" anchor="ctr"/>
          <a:lstStyle/>
          <a:p>
            <a:pPr indent="0" marL="0">
              <a:buNone/>
            </a:pPr>
            <a:r>
              <a:rPr lang="en-US" sz="1300" dirty="0">
                <a:solidFill>
                  <a:srgbClr val="8B93A7"/>
                </a:solidFill>
              </a:rPr>
              <a:t>11 – 31 Oct</a:t>
            </a:r>
            <a:endParaRPr lang="en-US" sz="1300" dirty="0"/>
          </a:p>
        </p:txBody>
      </p:sp>
      <p:sp>
        <p:nvSpPr>
          <p:cNvPr id="8" name="Text 6"/>
          <p:cNvSpPr txBox="1"/>
          <p:nvPr/>
        </p:nvSpPr>
        <p:spPr>
          <a:xfrm>
            <a:off x="4114800" y="1783080"/>
            <a:ext cx="7132320" cy="868680"/>
          </a:xfrm>
          <a:prstGeom prst="rect">
            <a:avLst/>
          </a:prstGeom>
          <a:noFill/>
          <a:ln/>
        </p:spPr>
        <p:txBody>
          <a:bodyPr wrap="square" lIns="0" tIns="0" rIns="0" bIns="0" rtlCol="0" anchor="ctr"/>
          <a:lstStyle/>
          <a:p>
            <a:pPr indent="0" marL="0">
              <a:buNone/>
            </a:pPr>
            <a:r>
              <a:rPr lang="en-US" sz="1350" dirty="0">
                <a:solidFill>
                  <a:srgbClr val="E6E9EF"/>
                </a:solidFill>
              </a:rPr>
              <a:t>Full benchmark datasets · SQL family and its execution validator · cross-model reviewer experiment</a:t>
            </a:r>
            <a:endParaRPr lang="en-US" sz="1350" dirty="0"/>
          </a:p>
        </p:txBody>
      </p:sp>
      <p:sp>
        <p:nvSpPr>
          <p:cNvPr id="9" name="phase-1"/>
          <p:cNvSpPr/>
          <p:nvPr/>
        </p:nvSpPr>
        <p:spPr>
          <a:xfrm>
            <a:off x="640080" y="2807208"/>
            <a:ext cx="10881360" cy="868680"/>
          </a:xfrm>
          <a:prstGeom prst="roundRect">
            <a:avLst>
              <a:gd name="adj" fmla="val 6316"/>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0" name="Text 8"/>
          <p:cNvSpPr txBox="1"/>
          <p:nvPr/>
        </p:nvSpPr>
        <p:spPr>
          <a:xfrm>
            <a:off x="896112" y="2807208"/>
            <a:ext cx="1371600" cy="868680"/>
          </a:xfrm>
          <a:prstGeom prst="rect">
            <a:avLst/>
          </a:prstGeom>
          <a:noFill/>
          <a:ln/>
        </p:spPr>
        <p:txBody>
          <a:bodyPr wrap="square" lIns="0" tIns="0" rIns="0" bIns="0" rtlCol="0" anchor="ctr"/>
          <a:lstStyle/>
          <a:p>
            <a:pPr indent="0" marL="0">
              <a:buNone/>
            </a:pPr>
            <a:r>
              <a:rPr lang="en-US" sz="1600" b="1" dirty="0">
                <a:solidFill>
                  <a:srgbClr val="3DDC97"/>
                </a:solidFill>
              </a:rPr>
              <a:t>Phase 3</a:t>
            </a:r>
            <a:endParaRPr lang="en-US" sz="1600" dirty="0"/>
          </a:p>
        </p:txBody>
      </p:sp>
      <p:sp>
        <p:nvSpPr>
          <p:cNvPr id="11" name="Text 9"/>
          <p:cNvSpPr txBox="1"/>
          <p:nvPr/>
        </p:nvSpPr>
        <p:spPr>
          <a:xfrm>
            <a:off x="2331720" y="2807208"/>
            <a:ext cx="1645920" cy="868680"/>
          </a:xfrm>
          <a:prstGeom prst="rect">
            <a:avLst/>
          </a:prstGeom>
          <a:noFill/>
          <a:ln/>
        </p:spPr>
        <p:txBody>
          <a:bodyPr wrap="square" lIns="0" tIns="0" rIns="0" bIns="0" rtlCol="0" anchor="ctr"/>
          <a:lstStyle/>
          <a:p>
            <a:pPr indent="0" marL="0">
              <a:buNone/>
            </a:pPr>
            <a:r>
              <a:rPr lang="en-US" sz="1300" dirty="0">
                <a:solidFill>
                  <a:srgbClr val="8B93A7"/>
                </a:solidFill>
              </a:rPr>
              <a:t>1 – 10 Nov</a:t>
            </a:r>
            <a:endParaRPr lang="en-US" sz="1300" dirty="0"/>
          </a:p>
        </p:txBody>
      </p:sp>
      <p:sp>
        <p:nvSpPr>
          <p:cNvPr id="12" name="Text 10"/>
          <p:cNvSpPr txBox="1"/>
          <p:nvPr/>
        </p:nvSpPr>
        <p:spPr>
          <a:xfrm>
            <a:off x="4114800" y="2807208"/>
            <a:ext cx="7132320" cy="868680"/>
          </a:xfrm>
          <a:prstGeom prst="rect">
            <a:avLst/>
          </a:prstGeom>
          <a:noFill/>
          <a:ln/>
        </p:spPr>
        <p:txBody>
          <a:bodyPr wrap="square" lIns="0" tIns="0" rIns="0" bIns="0" rtlCol="0" anchor="ctr"/>
          <a:lstStyle/>
          <a:p>
            <a:pPr indent="0" marL="0">
              <a:buNone/>
            </a:pPr>
            <a:r>
              <a:rPr lang="en-US" sz="1350" dirty="0">
                <a:solidFill>
                  <a:srgbClr val="E6E9EF"/>
                </a:solidFill>
              </a:rPr>
              <a:t>Frozen sweep · comparative results · ablation on rounds and validator type · MAST failure classification</a:t>
            </a:r>
            <a:endParaRPr lang="en-US" sz="1350" dirty="0"/>
          </a:p>
        </p:txBody>
      </p:sp>
      <p:sp>
        <p:nvSpPr>
          <p:cNvPr id="13" name="phase-2"/>
          <p:cNvSpPr/>
          <p:nvPr/>
        </p:nvSpPr>
        <p:spPr>
          <a:xfrm>
            <a:off x="640080" y="3831336"/>
            <a:ext cx="10881360" cy="868680"/>
          </a:xfrm>
          <a:prstGeom prst="roundRect">
            <a:avLst>
              <a:gd name="adj" fmla="val 6316"/>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4" name="Text 12"/>
          <p:cNvSpPr txBox="1"/>
          <p:nvPr/>
        </p:nvSpPr>
        <p:spPr>
          <a:xfrm>
            <a:off x="896112" y="3831336"/>
            <a:ext cx="1371600" cy="868680"/>
          </a:xfrm>
          <a:prstGeom prst="rect">
            <a:avLst/>
          </a:prstGeom>
          <a:noFill/>
          <a:ln/>
        </p:spPr>
        <p:txBody>
          <a:bodyPr wrap="square" lIns="0" tIns="0" rIns="0" bIns="0" rtlCol="0" anchor="ctr"/>
          <a:lstStyle/>
          <a:p>
            <a:pPr indent="0" marL="0">
              <a:buNone/>
            </a:pPr>
            <a:r>
              <a:rPr lang="en-US" sz="1600" b="1" dirty="0">
                <a:solidFill>
                  <a:srgbClr val="F0B429"/>
                </a:solidFill>
              </a:rPr>
              <a:t>Final</a:t>
            </a:r>
            <a:endParaRPr lang="en-US" sz="1600" dirty="0"/>
          </a:p>
        </p:txBody>
      </p:sp>
      <p:sp>
        <p:nvSpPr>
          <p:cNvPr id="15" name="Text 13"/>
          <p:cNvSpPr txBox="1"/>
          <p:nvPr/>
        </p:nvSpPr>
        <p:spPr>
          <a:xfrm>
            <a:off x="2331720" y="3831336"/>
            <a:ext cx="1645920" cy="868680"/>
          </a:xfrm>
          <a:prstGeom prst="rect">
            <a:avLst/>
          </a:prstGeom>
          <a:noFill/>
          <a:ln/>
        </p:spPr>
        <p:txBody>
          <a:bodyPr wrap="square" lIns="0" tIns="0" rIns="0" bIns="0" rtlCol="0" anchor="ctr"/>
          <a:lstStyle/>
          <a:p>
            <a:pPr indent="0" marL="0">
              <a:buNone/>
            </a:pPr>
            <a:r>
              <a:rPr lang="en-US" sz="1300" dirty="0">
                <a:solidFill>
                  <a:srgbClr val="8B93A7"/>
                </a:solidFill>
              </a:rPr>
              <a:t>23 – 27 Nov</a:t>
            </a:r>
            <a:endParaRPr lang="en-US" sz="1300" dirty="0"/>
          </a:p>
        </p:txBody>
      </p:sp>
      <p:sp>
        <p:nvSpPr>
          <p:cNvPr id="16" name="Text 14"/>
          <p:cNvSpPr txBox="1"/>
          <p:nvPr/>
        </p:nvSpPr>
        <p:spPr>
          <a:xfrm>
            <a:off x="4114800" y="3831336"/>
            <a:ext cx="7132320" cy="868680"/>
          </a:xfrm>
          <a:prstGeom prst="rect">
            <a:avLst/>
          </a:prstGeom>
          <a:noFill/>
          <a:ln/>
        </p:spPr>
        <p:txBody>
          <a:bodyPr wrap="square" lIns="0" tIns="0" rIns="0" bIns="0" rtlCol="0" anchor="ctr"/>
          <a:lstStyle/>
          <a:p>
            <a:pPr indent="0" marL="0">
              <a:buNone/>
            </a:pPr>
            <a:r>
              <a:rPr lang="en-US" sz="1350" dirty="0">
                <a:solidFill>
                  <a:srgbClr val="E6E9EF"/>
                </a:solidFill>
              </a:rPr>
              <a:t>Report, demonstration and viva</a:t>
            </a:r>
            <a:endParaRPr lang="en-US" sz="1350" dirty="0"/>
          </a:p>
        </p:txBody>
      </p:sp>
      <p:sp>
        <p:nvSpPr>
          <p:cNvPr id="17" name="closing"/>
          <p:cNvSpPr/>
          <p:nvPr/>
        </p:nvSpPr>
        <p:spPr>
          <a:xfrm>
            <a:off x="640080" y="4937760"/>
            <a:ext cx="10881360" cy="1143000"/>
          </a:xfrm>
          <a:prstGeom prst="roundRect">
            <a:avLst>
              <a:gd name="adj" fmla="val 4800"/>
            </a:avLst>
          </a:prstGeom>
          <a:solidFill>
            <a:srgbClr val="1D212A"/>
          </a:solidFill>
          <a:ln w="12700">
            <a:solidFill>
              <a:srgbClr val="2A2F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960120" y="5138928"/>
            <a:ext cx="10241280" cy="777240"/>
          </a:xfrm>
          <a:prstGeom prst="rect">
            <a:avLst/>
          </a:prstGeom>
          <a:noFill/>
          <a:ln/>
        </p:spPr>
        <p:txBody>
          <a:bodyPr wrap="square" lIns="0" tIns="0" rIns="0" bIns="0" rtlCol="0" anchor="ctr"/>
          <a:lstStyle/>
          <a:p>
            <a:pPr indent="0" marL="0">
              <a:buNone/>
            </a:pPr>
            <a:r>
              <a:rPr lang="en-US" sz="1500" b="1" dirty="0">
                <a:solidFill>
                  <a:srgbClr val="3DDC97"/>
                </a:solidFill>
              </a:rPr>
              <a:t>A negative result is still a result. </a:t>
            </a:r>
            <a:pPr indent="0" marL="0">
              <a:buNone/>
            </a:pPr>
            <a:r>
              <a:rPr lang="en-US" sz="1500" dirty="0">
                <a:solidFill>
                  <a:srgbClr val="E6E9EF"/>
                </a:solidFill>
              </a:rPr>
              <a:t>"We built it, held the budget equal, and adaptivity did not pay off on family X" is a finding, not a failure. We chose this framing because it cannot fail to produce an answer.</a:t>
            </a:r>
            <a:endParaRPr lang="en-US" sz="1500" dirty="0"/>
          </a:p>
        </p:txBody>
      </p:sp>
    </p:spTree>
  </p:cSld>
  <p:clrMapOvr>
    <a:masterClrMapping/>
  </p:clrMapOvr>
</p:sld>
</file>

<file path=ppt/theme/theme1.xml><?xml version="1.0" encoding="utf-8"?>
<a:theme xmlns:a="http://schemas.openxmlformats.org/drawingml/2006/main" name="ARBITER">
  <a:themeElements>
    <a:clrScheme name="ARBITER">
      <a:dk1>
        <a:srgbClr val="0F1115"/>
      </a:dk1>
      <a:lt1>
        <a:srgbClr val="FFFFFF"/>
      </a:lt1>
      <a:dk2>
        <a:srgbClr val="1D212A"/>
      </a:dk2>
      <a:lt2>
        <a:srgbClr val="E6E9EF"/>
      </a:lt2>
      <a:accent1>
        <a:srgbClr val="3DDC97"/>
      </a:accent1>
      <a:accent2>
        <a:srgbClr val="5B9DFF"/>
      </a:accent2>
      <a:accent3>
        <a:srgbClr val="F0B429"/>
      </a:accent3>
      <a:accent4>
        <a:srgbClr val="FF6B6B"/>
      </a:accent4>
      <a:accent5>
        <a:srgbClr val="8B93A7"/>
      </a:accent5>
      <a:accent6>
        <a:srgbClr val="2A2F3A"/>
      </a:accent6>
      <a:hlink>
        <a:srgbClr val="5B9DFF"/>
      </a:hlink>
      <a:folHlink>
        <a:srgbClr val="8B93A7"/>
      </a:folHlink>
    </a:clrScheme>
    <a:fontScheme name="ARBI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ARBITER - Mid-semester Review</dc:title>
  <dc:subject>PptxGenJS Presentation</dc:subject>
  <dc:creator>Gautam Lasgotra, Chirag Attri, Aniket Kundal</dc:creator>
  <cp:lastModifiedBy>Gautam Lasgotra, Chirag Attri, Aniket Kundal</cp:lastModifiedBy>
  <cp:revision>1</cp:revision>
  <dcterms:created xsi:type="dcterms:W3CDTF">2026-10-26T16:50:54Z</dcterms:created>
  <dcterms:modified xsi:type="dcterms:W3CDTF">2026-10-26T16:50:54Z</dcterms:modified>
</cp:coreProperties>
</file>